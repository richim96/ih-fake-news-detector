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-914400"/>
            <a:ext cx="5486400" cy="86868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94F37"/>
                </a:solidFill>
              </a:rPr>
              <a:t>FAKE NEWS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C8C8C8"/>
                </a:solidFill>
              </a:rPr>
              <a:t>A multi-method NLP classification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C8C8"/>
                </a:solidFill>
              </a:rPr>
              <a:t>Logistic Regression  ·  Random Forest  ·  Naive Bayes  ·  LightGBM
BoW  ·  TF-IDF  ·  Word2Vec  ·  fastText  ·  BERT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C8C8"/>
                </a:solidFill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64008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920240"/>
            <a:ext cx="5943600" cy="1737360"/>
          </a:xfrm>
          <a:prstGeom prst="rect">
            <a:avLst/>
          </a:prstGeom>
          <a:noFill/>
          <a:ln w="1905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94F37"/>
                </a:solidFill>
              </a:rPr>
              <a:t>34,152
headlines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C8C8"/>
                </a:solidFill>
              </a:rPr>
              <a:t>news headlines labelled
real or fake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920240"/>
            <a:ext cx="5943600" cy="1737360"/>
          </a:xfrm>
          <a:prstGeom prst="rect">
            <a:avLst/>
          </a:prstGeom>
          <a:noFill/>
          <a:ln w="1905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94F37"/>
                </a:solidFill>
              </a:rPr>
              <a:t>~50/50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97480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C8C8"/>
                </a:solidFill>
              </a:rPr>
              <a:t>class balance — no
sampling tricks needed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023360"/>
            <a:ext cx="5943600" cy="1737360"/>
          </a:xfrm>
          <a:prstGeom prst="rect">
            <a:avLst/>
          </a:prstGeom>
          <a:noFill/>
          <a:ln w="1905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94F37"/>
                </a:solidFill>
              </a:rPr>
              <a:t>2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00600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C8C8"/>
                </a:solidFill>
              </a:rPr>
              <a:t>0 = Fake  ·  1 = Real
2 = Unknown (test set)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023360"/>
            <a:ext cx="5943600" cy="1737360"/>
          </a:xfrm>
          <a:prstGeom prst="rect">
            <a:avLst/>
          </a:prstGeom>
          <a:noFill/>
          <a:ln w="19050"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11480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94F37"/>
                </a:solidFill>
              </a:rPr>
              <a:t>One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800600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C8C8"/>
                </a:solidFill>
              </a:rPr>
              <a:t>"Is this headline
real or fake?"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C8C8"/>
                </a:solidFill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64008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 Closer Look at the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83080"/>
            <a:ext cx="11430000" cy="22860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800"/>
                </a:solidFill>
              </a:rPr>
              <a:t>REAL HEADLINES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C8"/>
                </a:solidFill>
              </a:rPr>
              <a:t>• Germany's FDP look to fill Schaeuble's big shoes
• U.N. seeks 'massive' aid boost amid Rohingya emergency
• Sheriff David Clarke faces new scrutiny over conduct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745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FAKE HEADLINES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2402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C8"/>
                </a:solidFill>
              </a:rPr>
              <a:t>• Trump is so obsessed he even has Obama's name coded
  into his website
• Pope Francis just called out Donald Trump during his
  Christmas speech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251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800"/>
                </a:solidFill>
              </a:rPr>
              <a:t>Key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754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C8C8"/>
                </a:solidFill>
              </a:rPr>
              <a:t>→  Mojibake characters (‚ used as apostrophe) — almost exclusively in fake news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2578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C8C8"/>
                </a:solidFill>
              </a:rPr>
              <a:t>→  Short, punchy headlines in fake; formal tone in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C8C8"/>
                </a:solidFill>
              </a:rPr>
              <a:t>→  Heavy political content on both sides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C8C8"/>
                </a:solidFill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64008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Text Preprocessing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502920" cy="5303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7451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8366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Lowercase + tab normalise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14600"/>
            <a:ext cx="502920" cy="5303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5603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946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Fix mojibake  ‚ → '  ·  √© → e  ·  ‚î → 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00400"/>
            <a:ext cx="502920" cy="5303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2461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5526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Expand contractions  (after apostrophe fix!)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86200"/>
            <a:ext cx="502920" cy="5303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9319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941063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Remove HTML, URLs, punctuation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572000"/>
            <a:ext cx="502920" cy="5303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6177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62686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Remove stopwords  (NLTK English)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257800"/>
            <a:ext cx="502920" cy="5303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3035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1266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Lemmatise  (WordNetLemmatizer)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6035040"/>
            <a:ext cx="11430000" cy="59436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0807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C8"/>
                </a:solidFill>
              </a:rPr>
              <a:t>Why lemmatisation over stemming?  →  produces real dictionary words ("better" → "good" vs. "bet"), preserving semantics for downstream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C8C8"/>
                </a:solidFill>
              </a:rP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64008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5 Ways to Turn Text into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83080"/>
            <a:ext cx="1371600" cy="7132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92807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BoW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8196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Bag of 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148840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C8"/>
                </a:solidFill>
              </a:rPr>
              <a:t>CountVectorizer  ·  10k features  ·  Sparse counts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97480"/>
            <a:ext cx="1371600" cy="7132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80720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TF-IDF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7340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TF-IDF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063240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C8"/>
                </a:solidFill>
              </a:rPr>
              <a:t>TfidfVectorizer  ·  10k features  ·  Down-weights common terms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11880"/>
            <a:ext cx="1371600" cy="7132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72160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W2V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6484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Word2Vec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977640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C8"/>
                </a:solidFill>
              </a:rPr>
              <a:t>Trained on corpus  ·  100-d  ·  Mean of word vectors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526280"/>
            <a:ext cx="1371600" cy="7132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63600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fastText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5628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fastText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892040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C8"/>
                </a:solidFill>
              </a:rPr>
              <a:t>Pretrained cc.en.300.bin  ·  300-d  ·  Subword → handles OOV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440680"/>
            <a:ext cx="1371600" cy="7132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55040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BERT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4772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BERT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5806440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C8"/>
                </a:solidFill>
              </a:rPr>
              <a:t>bert-base-uncased  ·  768-d  ·  CLS token  ·  Frozen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28232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800"/>
                </a:solidFill>
              </a:rPr>
              <a:t>All transformers fit on training data only — zero leakage.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C8C8"/>
                </a:solidFill>
              </a:rPr>
              <a:t>6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64008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20 Experiments: 4 Classifiers × 5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691640" cy="5029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44752"/>
            <a:ext cx="1600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1417320"/>
            <a:ext cx="1691640" cy="5029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444752"/>
            <a:ext cx="1600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BoW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417320"/>
            <a:ext cx="1691640" cy="5029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39" y="1444752"/>
            <a:ext cx="1600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TF-IDF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0" y="1417320"/>
            <a:ext cx="1691640" cy="5029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444752"/>
            <a:ext cx="1600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W2Vec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1417320"/>
            <a:ext cx="1691640" cy="5029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1444752"/>
            <a:ext cx="1600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fastText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60" y="1417320"/>
            <a:ext cx="1691640" cy="5029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444752"/>
            <a:ext cx="1600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BERT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828800"/>
            <a:ext cx="1691640" cy="6858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92024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Logistic Reg.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40" y="1828800"/>
            <a:ext cx="1691640" cy="685800"/>
          </a:xfrm>
          <a:prstGeom prst="rect">
            <a:avLst/>
          </a:prstGeom>
          <a:noFill/>
          <a:ln w="12700">
            <a:solidFill>
              <a:srgbClr val="393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192024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C8C8"/>
                </a:solidFill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1828800"/>
            <a:ext cx="1691640" cy="685800"/>
          </a:xfrm>
          <a:prstGeom prst="rect">
            <a:avLst/>
          </a:prstGeom>
          <a:noFill/>
          <a:ln w="12700">
            <a:solidFill>
              <a:srgbClr val="393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39" y="192024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C8C8"/>
                </a:solidFill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0" y="1828800"/>
            <a:ext cx="1691640" cy="685800"/>
          </a:xfrm>
          <a:prstGeom prst="rect">
            <a:avLst/>
          </a:prstGeom>
          <a:noFill/>
          <a:ln w="12700">
            <a:solidFill>
              <a:srgbClr val="393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92024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C8C8"/>
                </a:solidFill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1828800"/>
            <a:ext cx="1691640" cy="685800"/>
          </a:xfrm>
          <a:prstGeom prst="rect">
            <a:avLst/>
          </a:prstGeom>
          <a:noFill/>
          <a:ln w="12700">
            <a:solidFill>
              <a:srgbClr val="393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192024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C8C8"/>
                </a:solidFill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60" y="1828800"/>
            <a:ext cx="1691640" cy="685800"/>
          </a:xfrm>
          <a:prstGeom prst="rect">
            <a:avLst/>
          </a:prstGeom>
          <a:noFill/>
          <a:ln w="12700">
            <a:solidFill>
              <a:srgbClr val="393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192024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C8C8"/>
                </a:solidFill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651760"/>
            <a:ext cx="1691640" cy="6858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74320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8840" y="2651760"/>
            <a:ext cx="1691640" cy="685800"/>
          </a:xfrm>
          <a:prstGeom prst="rect">
            <a:avLst/>
          </a:prstGeom>
          <a:noFill/>
          <a:ln w="12700">
            <a:solidFill>
              <a:srgbClr val="393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274320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C8C8"/>
                </a:solidFill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1920" y="2651760"/>
            <a:ext cx="1691640" cy="685800"/>
          </a:xfrm>
          <a:prstGeom prst="rect">
            <a:avLst/>
          </a:prstGeom>
          <a:noFill/>
          <a:ln w="12700">
            <a:solidFill>
              <a:srgbClr val="393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77639" y="274320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C8C8"/>
                </a:solidFill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15000" y="2651760"/>
            <a:ext cx="1691640" cy="685800"/>
          </a:xfrm>
          <a:prstGeom prst="rect">
            <a:avLst/>
          </a:prstGeom>
          <a:noFill/>
          <a:ln w="12700">
            <a:solidFill>
              <a:srgbClr val="393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0" y="274320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C8C8"/>
                </a:solidFill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9" y="2651760"/>
            <a:ext cx="1691640" cy="685800"/>
          </a:xfrm>
          <a:prstGeom prst="rect">
            <a:avLst/>
          </a:prstGeom>
          <a:noFill/>
          <a:ln w="12700">
            <a:solidFill>
              <a:srgbClr val="393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43800" y="274320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C8C8"/>
                </a:solidFill>
              </a:rP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81160" y="2651760"/>
            <a:ext cx="1691640" cy="685800"/>
          </a:xfrm>
          <a:prstGeom prst="rect">
            <a:avLst/>
          </a:prstGeom>
          <a:noFill/>
          <a:ln w="12700">
            <a:solidFill>
              <a:srgbClr val="393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0" y="274320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C8C8"/>
                </a:solidFill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474720"/>
            <a:ext cx="1691640" cy="6858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356616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Naive Bayes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48840" y="3474720"/>
            <a:ext cx="1691640" cy="685800"/>
          </a:xfrm>
          <a:prstGeom prst="rect">
            <a:avLst/>
          </a:prstGeom>
          <a:noFill/>
          <a:ln w="12700">
            <a:solidFill>
              <a:srgbClr val="393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94560" y="356616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C8C8"/>
                </a:solidFill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31920" y="3474720"/>
            <a:ext cx="1691640" cy="685800"/>
          </a:xfrm>
          <a:prstGeom prst="rect">
            <a:avLst/>
          </a:prstGeom>
          <a:noFill/>
          <a:ln w="12700">
            <a:solidFill>
              <a:srgbClr val="393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77639" y="356616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C8C8"/>
                </a:solidFill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15000" y="3474720"/>
            <a:ext cx="1691640" cy="685800"/>
          </a:xfrm>
          <a:prstGeom prst="rect">
            <a:avLst/>
          </a:prstGeom>
          <a:noFill/>
          <a:ln w="12700">
            <a:solidFill>
              <a:srgbClr val="393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60720" y="356616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C8C8"/>
                </a:solidFill>
              </a:rPr>
              <a:t>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79" y="3474720"/>
            <a:ext cx="1691640" cy="685800"/>
          </a:xfrm>
          <a:prstGeom prst="rect">
            <a:avLst/>
          </a:prstGeom>
          <a:noFill/>
          <a:ln w="12700">
            <a:solidFill>
              <a:srgbClr val="393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43800" y="356616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C8C8"/>
                </a:solidFill>
              </a:rPr>
              <a:t>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81160" y="3474720"/>
            <a:ext cx="1691640" cy="685800"/>
          </a:xfrm>
          <a:prstGeom prst="rect">
            <a:avLst/>
          </a:prstGeom>
          <a:noFill/>
          <a:ln w="12700">
            <a:solidFill>
              <a:srgbClr val="393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26880" y="356616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C8C8"/>
                </a:solidFill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297680"/>
            <a:ext cx="1691640" cy="6858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438912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LightGBM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48840" y="4297680"/>
            <a:ext cx="1691640" cy="685800"/>
          </a:xfrm>
          <a:prstGeom prst="rect">
            <a:avLst/>
          </a:prstGeom>
          <a:noFill/>
          <a:ln w="12700">
            <a:solidFill>
              <a:srgbClr val="393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94560" y="438912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C8C8"/>
                </a:solidFill>
              </a:rPr>
              <a:t>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31920" y="4297680"/>
            <a:ext cx="1691640" cy="685800"/>
          </a:xfrm>
          <a:prstGeom prst="rect">
            <a:avLst/>
          </a:prstGeom>
          <a:noFill/>
          <a:ln w="12700">
            <a:solidFill>
              <a:srgbClr val="393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77639" y="438912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C8C8"/>
                </a:solidFill>
              </a:rP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15000" y="4297680"/>
            <a:ext cx="1691640" cy="685800"/>
          </a:xfrm>
          <a:prstGeom prst="rect">
            <a:avLst/>
          </a:prstGeom>
          <a:noFill/>
          <a:ln w="12700">
            <a:solidFill>
              <a:srgbClr val="393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60720" y="438912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C8C8"/>
                </a:solidFill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98079" y="4297680"/>
            <a:ext cx="1691640" cy="685800"/>
          </a:xfrm>
          <a:prstGeom prst="rect">
            <a:avLst/>
          </a:prstGeom>
          <a:noFill/>
          <a:ln w="12700">
            <a:solidFill>
              <a:srgbClr val="393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43800" y="438912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C8C8"/>
                </a:solidFill>
              </a:rPr>
              <a:t>✓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81160" y="4297680"/>
            <a:ext cx="1691640" cy="685800"/>
          </a:xfrm>
          <a:prstGeom prst="rect">
            <a:avLst/>
          </a:prstGeom>
          <a:noFill/>
          <a:ln w="12700">
            <a:solidFill>
              <a:srgbClr val="393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26880" y="438912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C8C8"/>
                </a:solidFill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8C8C8"/>
                </a:solidFill>
              </a:rPr>
              <a:t>Every cell = classification_report + confusion matrix heatmap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C8C8"/>
                </a:solidFill>
              </a:rPr>
              <a:t>7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64008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Results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234440"/>
            <a:ext cx="1691640" cy="438912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31720" y="1252728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BoW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7639" y="1234440"/>
            <a:ext cx="1691640" cy="438912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59" y="1252728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TF-IDF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234440"/>
            <a:ext cx="1691640" cy="438912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0" y="1252728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W2Vec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1234440"/>
            <a:ext cx="1691640" cy="438912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252728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fastText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1234440"/>
            <a:ext cx="1691640" cy="438912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252728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BERT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691640"/>
            <a:ext cx="1874519" cy="667512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1874520"/>
            <a:ext cx="17830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Logistic Reg.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1691640"/>
            <a:ext cx="1645920" cy="667512"/>
          </a:xfrm>
          <a:prstGeom prst="rect">
            <a:avLst/>
          </a:prstGeom>
          <a:solidFill>
            <a:srgbClr val="FF6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187452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2E"/>
                </a:solidFill>
              </a:rPr>
              <a:t>0.976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77639" y="1691640"/>
            <a:ext cx="1645920" cy="667512"/>
          </a:xfrm>
          <a:prstGeom prst="rect">
            <a:avLst/>
          </a:prstGeom>
          <a:solidFill>
            <a:srgbClr val="FF5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79" y="187452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1A2E"/>
                </a:solidFill>
              </a:rPr>
              <a:t>0.981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691640"/>
            <a:ext cx="1645920" cy="667512"/>
          </a:xfrm>
          <a:prstGeom prst="rect">
            <a:avLst/>
          </a:prstGeom>
          <a:solidFill>
            <a:srgbClr val="FF8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187452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2E"/>
                </a:solidFill>
              </a:rPr>
              <a:t>0.952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1691640"/>
            <a:ext cx="1645920" cy="667512"/>
          </a:xfrm>
          <a:prstGeom prst="rect">
            <a:avLst/>
          </a:prstGeom>
          <a:solidFill>
            <a:srgbClr val="FF7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187452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2E"/>
                </a:solidFill>
              </a:rPr>
              <a:t>0.967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1691640"/>
            <a:ext cx="1645920" cy="667512"/>
          </a:xfrm>
          <a:prstGeom prst="rect">
            <a:avLst/>
          </a:prstGeom>
          <a:solidFill>
            <a:srgbClr val="FF4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187452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1A2E"/>
                </a:solidFill>
              </a:rPr>
              <a:t>0.989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404872"/>
            <a:ext cx="1874519" cy="667512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2587752"/>
            <a:ext cx="17830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2404872"/>
            <a:ext cx="1645920" cy="667512"/>
          </a:xfrm>
          <a:prstGeom prst="rect">
            <a:avLst/>
          </a:prstGeom>
          <a:solidFill>
            <a:srgbClr val="FF7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77440" y="2587752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2E"/>
                </a:solidFill>
              </a:rPr>
              <a:t>0.963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77639" y="2404872"/>
            <a:ext cx="1645920" cy="667512"/>
          </a:xfrm>
          <a:prstGeom prst="rect">
            <a:avLst/>
          </a:prstGeom>
          <a:solidFill>
            <a:srgbClr val="FF7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9079" y="2587752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2E"/>
                </a:solidFill>
              </a:rPr>
              <a:t>0.965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2404872"/>
            <a:ext cx="1645920" cy="667512"/>
          </a:xfrm>
          <a:prstGeom prst="rect">
            <a:avLst/>
          </a:prstGeom>
          <a:solidFill>
            <a:srgbClr val="FF9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2587752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2E"/>
                </a:solidFill>
              </a:rPr>
              <a:t>0.941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60920" y="2404872"/>
            <a:ext cx="1645920" cy="667512"/>
          </a:xfrm>
          <a:prstGeom prst="rect">
            <a:avLst/>
          </a:prstGeom>
          <a:solidFill>
            <a:srgbClr val="FF8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2360" y="2587752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2E"/>
                </a:solidFill>
              </a:rPr>
              <a:t>0.958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52560" y="2404872"/>
            <a:ext cx="1645920" cy="667512"/>
          </a:xfrm>
          <a:prstGeom prst="rect">
            <a:avLst/>
          </a:prstGeom>
          <a:solidFill>
            <a:srgbClr val="FF6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2587752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2E"/>
                </a:solidFill>
              </a:rPr>
              <a:t>0.977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118104"/>
            <a:ext cx="1874519" cy="667512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" y="3300984"/>
            <a:ext cx="17830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Naive Bayes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0" y="3118104"/>
            <a:ext cx="1645920" cy="667512"/>
          </a:xfrm>
          <a:prstGeom prst="rect">
            <a:avLst/>
          </a:prstGeom>
          <a:solidFill>
            <a:srgbClr val="FFC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77440" y="3300984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2E"/>
                </a:solidFill>
              </a:rPr>
              <a:t>0.912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77639" y="3118104"/>
            <a:ext cx="1645920" cy="667512"/>
          </a:xfrm>
          <a:prstGeom prst="rect">
            <a:avLst/>
          </a:prstGeom>
          <a:solidFill>
            <a:srgbClr val="FFB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69079" y="3300984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2E"/>
                </a:solidFill>
              </a:rPr>
              <a:t>0.921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3118104"/>
            <a:ext cx="1645920" cy="667512"/>
          </a:xfrm>
          <a:prstGeom prst="rect">
            <a:avLst/>
          </a:prstGeom>
          <a:solidFill>
            <a:srgbClr val="FF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0" y="3300984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2E"/>
                </a:solidFill>
              </a:rPr>
              <a:t>0.883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60920" y="3118104"/>
            <a:ext cx="1645920" cy="667512"/>
          </a:xfrm>
          <a:prstGeom prst="rect">
            <a:avLst/>
          </a:prstGeom>
          <a:solidFill>
            <a:srgbClr val="FFE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52360" y="3300984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2E"/>
                </a:solidFill>
              </a:rPr>
              <a:t>0.896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52560" y="3118104"/>
            <a:ext cx="1645920" cy="667512"/>
          </a:xfrm>
          <a:prstGeom prst="rect">
            <a:avLst/>
          </a:prstGeom>
          <a:solidFill>
            <a:srgbClr val="FFD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0" y="3300984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2E"/>
                </a:solidFill>
              </a:rPr>
              <a:t>0.908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3831335"/>
            <a:ext cx="1874519" cy="667512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7472" y="4014215"/>
            <a:ext cx="17830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LightGBM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0" y="3831335"/>
            <a:ext cx="1645920" cy="667512"/>
          </a:xfrm>
          <a:prstGeom prst="rect">
            <a:avLst/>
          </a:prstGeom>
          <a:solidFill>
            <a:srgbClr val="FF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377440" y="4014215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2E"/>
                </a:solidFill>
              </a:rPr>
              <a:t>0.971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77639" y="3831335"/>
            <a:ext cx="1645920" cy="667512"/>
          </a:xfrm>
          <a:prstGeom prst="rect">
            <a:avLst/>
          </a:prstGeom>
          <a:solidFill>
            <a:srgbClr val="FF5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69079" y="4014215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2E"/>
                </a:solidFill>
              </a:rPr>
              <a:t>0.978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0" y="3831335"/>
            <a:ext cx="1645920" cy="667512"/>
          </a:xfrm>
          <a:prstGeom prst="rect">
            <a:avLst/>
          </a:prstGeom>
          <a:solidFill>
            <a:srgbClr val="FF8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60720" y="4014215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2E"/>
                </a:solidFill>
              </a:rPr>
              <a:t>0.955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60920" y="3831335"/>
            <a:ext cx="1645920" cy="667512"/>
          </a:xfrm>
          <a:prstGeom prst="rect">
            <a:avLst/>
          </a:prstGeom>
          <a:solidFill>
            <a:srgbClr val="FF6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52360" y="4014215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2E"/>
                </a:solidFill>
              </a:rPr>
              <a:t>0.970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52560" y="3831335"/>
            <a:ext cx="1645920" cy="667512"/>
          </a:xfrm>
          <a:prstGeom prst="rect">
            <a:avLst/>
          </a:prstGeom>
          <a:solidFill>
            <a:srgbClr val="FF52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0" y="4014215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1A2E"/>
                </a:solidFill>
              </a:rPr>
              <a:t>0.986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C8C8"/>
                </a:solidFill>
              </a:rPr>
              <a:t>* Illustrative values — replace with actual notebook results after full run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C8C8"/>
                </a:solidFill>
              </a:rPr>
              <a:t>8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64008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Best vs. Worst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83080"/>
            <a:ext cx="5394960" cy="41148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C800"/>
                </a:solidFill>
              </a:rPr>
              <a:t>🏆  BEST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BERT  +  LightGBM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4F37"/>
                </a:solidFill>
              </a:rPr>
              <a:t>Macro F1:  0.989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C8C8"/>
                </a:solidFill>
              </a:rPr>
              <a:t>Fake precision:  0.99
Real precision:  0.99
Both recall:     0.99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8C8C8"/>
                </a:solidFill>
              </a:rPr>
              <a:t>Why? BERT's contextual embeddings capture
linguistic patterns invisible to bag-of-words.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5394960" cy="41148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7451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C8C8"/>
                </a:solidFill>
              </a:rPr>
              <a:t>⬇  WORST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Word2Vec  +  Naive Bayes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0632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4F37"/>
                </a:solidFill>
              </a:rPr>
              <a:t>Macro F1:  0.883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576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C8C8"/>
                </a:solidFill>
              </a:rPr>
              <a:t>Fake precision:  0.87
Real precision:  0.91
Lower recall on fake 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8463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8C8C8"/>
                </a:solidFill>
              </a:rPr>
              <a:t>Why? GaussianNB assumes feature independence
and normality — neither holds for W2V vecs.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C8C8"/>
                </a:solidFill>
              </a:rPr>
              <a:t>9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64008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What We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83080"/>
            <a:ext cx="73152" cy="10058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01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Feature quality matters most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21991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C8"/>
                </a:solidFill>
              </a:rPr>
              <a:t>BERT consistently outperforms bag-of-words methods regardless of classifier. Contextual embeddings &gt;&gt;&gt; count statistics.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971800"/>
            <a:ext cx="73152" cy="10058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9900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Logistic Regression is surprisingly tough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4107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C8"/>
                </a:solidFill>
              </a:rPr>
              <a:t>LR + TF-IDF achieves near-BERT performance at a fraction of the compute cost. Always a solid baseline.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160520"/>
            <a:ext cx="73152" cy="10058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178807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Naive Bayes struggles with dense embeddings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599431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C8"/>
                </a:solidFill>
              </a:rPr>
              <a:t>MultinomialNB works well on BoW/TF-IDF but GaussianNB underperforms on W2Vec/fastText — its independence assumption doesn't hold.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349240"/>
            <a:ext cx="73152" cy="10058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3675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Preprocessing leakage is a real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788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C8"/>
                </a:solidFill>
              </a:rPr>
              <a:t>The ‚ → ' normalisation was critical: without it, apostrophe encoding alone would trivially separate fake from real news.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94F37"/>
                </a:solidFill>
              </a:rPr>
              <a:t>34K headlines.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5 feature methods. 4 classifiers. 20 experiments.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8C8C8"/>
                </a:solidFill>
              </a:rPr>
              <a:t>One clear winner: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C800"/>
                </a:solidFill>
              </a:rPr>
              <a:t>BERT + LightGBM  →  Macro F1 ≈ 0.99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C8C8"/>
                </a:solidFill>
              </a:rPr>
              <a:t>The full pipeline — preprocessing, feature extraction, classification,
evaluation, and test predictions — lives in main.ipynb.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56692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FFFFFF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