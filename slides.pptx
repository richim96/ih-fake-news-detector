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502919" y="1097279"/>
            <a:ext cx="10881362" cy="100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200">
                <a:solidFill>
                  <a:srgbClr val="FFFFFF"/>
                </a:solidFill>
              </a:defRPr>
            </a:lvl1pPr>
          </a:lstStyle>
          <a:p>
            <a:pPr/>
            <a:r>
              <a:t>FAKE NEWS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502919" y="2285999"/>
            <a:ext cx="10881362" cy="100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200">
                <a:solidFill>
                  <a:srgbClr val="E94360"/>
                </a:solidFill>
              </a:defRPr>
            </a:lvl1pPr>
          </a:lstStyle>
          <a:p>
            <a:pPr/>
            <a:r>
              <a:t>DETECTOR</a:t>
            </a:r>
          </a:p>
        </p:txBody>
      </p:sp>
      <p:sp>
        <p:nvSpPr>
          <p:cNvPr id="97" name="Rectangle 4"/>
          <p:cNvSpPr/>
          <p:nvPr/>
        </p:nvSpPr>
        <p:spPr>
          <a:xfrm>
            <a:off x="457200" y="3474720"/>
            <a:ext cx="5486400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502919" y="3657599"/>
            <a:ext cx="905256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B0BEC5"/>
                </a:solidFill>
              </a:defRPr>
            </a:lvl1pPr>
          </a:lstStyle>
          <a:p>
            <a:pPr/>
            <a:r>
              <a:t>NLP Classification Pipeline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502919" y="4251959"/>
            <a:ext cx="9052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600">
                <a:solidFill>
                  <a:srgbClr val="B0BEC5"/>
                </a:solidFill>
              </a:defRPr>
            </a:lvl1pPr>
          </a:lstStyle>
          <a:p>
            <a:pPr/>
            <a:r>
              <a:t>5 feature methods · 3 classifiers · 15 combinations</a:t>
            </a:r>
          </a:p>
        </p:txBody>
      </p:sp>
      <p:sp>
        <p:nvSpPr>
          <p:cNvPr id="100" name="Rectangle 7"/>
          <p:cNvSpPr/>
          <p:nvPr/>
        </p:nvSpPr>
        <p:spPr>
          <a:xfrm>
            <a:off x="8961119" y="914400"/>
            <a:ext cx="2834641" cy="182880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9006839" y="960119"/>
            <a:ext cx="2743201" cy="745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200">
                <a:solidFill>
                  <a:srgbClr val="E94360"/>
                </a:solidFill>
              </a:defRPr>
            </a:lvl1pPr>
          </a:lstStyle>
          <a:p>
            <a:pPr/>
            <a:r>
              <a:t>0.9349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9006839" y="1783079"/>
            <a:ext cx="27432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B0BEC5"/>
                </a:solidFill>
              </a:defRPr>
            </a:lvl1pPr>
          </a:lstStyle>
          <a:p>
            <a:pPr/>
            <a:r>
              <a:t>Best Macro F1</a:t>
            </a:r>
          </a:p>
        </p:txBody>
      </p:sp>
      <p:sp>
        <p:nvSpPr>
          <p:cNvPr id="103" name="TextBox 10"/>
          <p:cNvSpPr txBox="1"/>
          <p:nvPr/>
        </p:nvSpPr>
        <p:spPr>
          <a:xfrm>
            <a:off x="9006839" y="2194560"/>
            <a:ext cx="2743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TF-IDF + Logistic Regression</a:t>
            </a:r>
          </a:p>
        </p:txBody>
      </p:sp>
      <p:sp>
        <p:nvSpPr>
          <p:cNvPr id="104" name="TextBox 11"/>
          <p:cNvSpPr txBox="1"/>
          <p:nvPr/>
        </p:nvSpPr>
        <p:spPr>
          <a:xfrm>
            <a:off x="502919" y="6217920"/>
            <a:ext cx="10881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B0BEC5"/>
                </a:solidFill>
              </a:defRPr>
            </a:lvl1pPr>
          </a:lstStyle>
          <a:p>
            <a:pPr/>
            <a:r>
              <a:t>Ironhack · NLP Challenge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"/>
          <p:cNvSpPr txBox="1"/>
          <p:nvPr/>
        </p:nvSpPr>
        <p:spPr>
          <a:xfrm>
            <a:off x="411479" y="228599"/>
            <a:ext cx="108813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DATASET &amp; PROBLEM</a:t>
            </a:r>
          </a:p>
        </p:txBody>
      </p:sp>
      <p:sp>
        <p:nvSpPr>
          <p:cNvPr id="108" name="Rectangle 3"/>
          <p:cNvSpPr/>
          <p:nvPr/>
        </p:nvSpPr>
        <p:spPr>
          <a:xfrm>
            <a:off x="365759" y="7772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Rectangle 4"/>
          <p:cNvSpPr/>
          <p:nvPr/>
        </p:nvSpPr>
        <p:spPr>
          <a:xfrm>
            <a:off x="365759" y="1005839"/>
            <a:ext cx="2560322" cy="128016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5"/>
          <p:cNvSpPr txBox="1"/>
          <p:nvPr/>
        </p:nvSpPr>
        <p:spPr>
          <a:xfrm>
            <a:off x="411479" y="1097280"/>
            <a:ext cx="2468882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600">
                <a:solidFill>
                  <a:srgbClr val="E94360"/>
                </a:solidFill>
              </a:defRPr>
            </a:lvl1pPr>
          </a:lstStyle>
          <a:p>
            <a:pPr/>
            <a:r>
              <a:t>34,152</a:t>
            </a:r>
          </a:p>
        </p:txBody>
      </p:sp>
      <p:sp>
        <p:nvSpPr>
          <p:cNvPr id="111" name="TextBox 6"/>
          <p:cNvSpPr txBox="1"/>
          <p:nvPr/>
        </p:nvSpPr>
        <p:spPr>
          <a:xfrm>
            <a:off x="411479" y="1783079"/>
            <a:ext cx="246888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B0BEC5"/>
                </a:solidFill>
              </a:defRPr>
            </a:lvl1pPr>
          </a:lstStyle>
          <a:p>
            <a:pPr/>
            <a:r>
              <a:t>Training samples</a:t>
            </a:r>
          </a:p>
        </p:txBody>
      </p:sp>
      <p:sp>
        <p:nvSpPr>
          <p:cNvPr id="112" name="Rectangle 7"/>
          <p:cNvSpPr/>
          <p:nvPr/>
        </p:nvSpPr>
        <p:spPr>
          <a:xfrm>
            <a:off x="3291840" y="1005839"/>
            <a:ext cx="2560321" cy="128016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8"/>
          <p:cNvSpPr txBox="1"/>
          <p:nvPr/>
        </p:nvSpPr>
        <p:spPr>
          <a:xfrm>
            <a:off x="3337560" y="1097280"/>
            <a:ext cx="246888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600">
                <a:solidFill>
                  <a:srgbClr val="E94360"/>
                </a:solidFill>
              </a:defRPr>
            </a:lvl1pPr>
          </a:lstStyle>
          <a:p>
            <a:pPr/>
            <a:r>
              <a:t>9,984</a:t>
            </a:r>
          </a:p>
        </p:txBody>
      </p:sp>
      <p:sp>
        <p:nvSpPr>
          <p:cNvPr id="114" name="TextBox 9"/>
          <p:cNvSpPr txBox="1"/>
          <p:nvPr/>
        </p:nvSpPr>
        <p:spPr>
          <a:xfrm>
            <a:off x="3337560" y="1783079"/>
            <a:ext cx="24688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B0BEC5"/>
                </a:solidFill>
              </a:defRPr>
            </a:lvl1pPr>
          </a:lstStyle>
          <a:p>
            <a:pPr/>
            <a:r>
              <a:t>Test samples</a:t>
            </a:r>
          </a:p>
        </p:txBody>
      </p:sp>
      <p:sp>
        <p:nvSpPr>
          <p:cNvPr id="115" name="Rectangle 10"/>
          <p:cNvSpPr/>
          <p:nvPr/>
        </p:nvSpPr>
        <p:spPr>
          <a:xfrm>
            <a:off x="365759" y="2560320"/>
            <a:ext cx="2560322" cy="128016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11"/>
          <p:cNvSpPr txBox="1"/>
          <p:nvPr/>
        </p:nvSpPr>
        <p:spPr>
          <a:xfrm>
            <a:off x="411479" y="2651760"/>
            <a:ext cx="2468882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600">
                <a:solidFill>
                  <a:srgbClr val="E94360"/>
                </a:solidFill>
              </a:defRPr>
            </a:lvl1pPr>
          </a:lstStyle>
          <a:p>
            <a:pPr/>
            <a:r>
              <a:t>~51%</a:t>
            </a:r>
          </a:p>
        </p:txBody>
      </p:sp>
      <p:sp>
        <p:nvSpPr>
          <p:cNvPr id="117" name="TextBox 12"/>
          <p:cNvSpPr txBox="1"/>
          <p:nvPr/>
        </p:nvSpPr>
        <p:spPr>
          <a:xfrm>
            <a:off x="411479" y="3337559"/>
            <a:ext cx="246888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B0BEC5"/>
                </a:solidFill>
              </a:defRPr>
            </a:lvl1pPr>
          </a:lstStyle>
          <a:p>
            <a:pPr/>
            <a:r>
              <a:t>Fake headlines</a:t>
            </a:r>
          </a:p>
        </p:txBody>
      </p:sp>
      <p:sp>
        <p:nvSpPr>
          <p:cNvPr id="118" name="Rectangle 13"/>
          <p:cNvSpPr/>
          <p:nvPr/>
        </p:nvSpPr>
        <p:spPr>
          <a:xfrm>
            <a:off x="3291840" y="2560320"/>
            <a:ext cx="2560321" cy="128016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4"/>
          <p:cNvSpPr txBox="1"/>
          <p:nvPr/>
        </p:nvSpPr>
        <p:spPr>
          <a:xfrm>
            <a:off x="3337560" y="2651760"/>
            <a:ext cx="246888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600">
                <a:solidFill>
                  <a:srgbClr val="E94360"/>
                </a:solidFill>
              </a:defRPr>
            </a:lvl1pPr>
          </a:lstStyle>
          <a:p>
            <a:pPr/>
            <a:r>
              <a:t>~49%</a:t>
            </a:r>
          </a:p>
        </p:txBody>
      </p:sp>
      <p:sp>
        <p:nvSpPr>
          <p:cNvPr id="120" name="TextBox 15"/>
          <p:cNvSpPr txBox="1"/>
          <p:nvPr/>
        </p:nvSpPr>
        <p:spPr>
          <a:xfrm>
            <a:off x="3337560" y="3337559"/>
            <a:ext cx="24688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B0BEC5"/>
                </a:solidFill>
              </a:defRPr>
            </a:lvl1pPr>
          </a:lstStyle>
          <a:p>
            <a:pPr/>
            <a:r>
              <a:t>Real headlines</a:t>
            </a:r>
          </a:p>
        </p:txBody>
      </p:sp>
      <p:pic>
        <p:nvPicPr>
          <p:cNvPr id="121" name="Picture 16" descr="Picture 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20" y="1472184"/>
            <a:ext cx="3657601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Box 17"/>
          <p:cNvSpPr txBox="1"/>
          <p:nvPr/>
        </p:nvSpPr>
        <p:spPr>
          <a:xfrm>
            <a:off x="10195560" y="1457960"/>
            <a:ext cx="1645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E94360"/>
                </a:solidFill>
              </a:defRPr>
            </a:lvl1pPr>
          </a:lstStyle>
          <a:p>
            <a:pPr/>
            <a:r>
              <a:t>Goal</a:t>
            </a:r>
          </a:p>
        </p:txBody>
      </p:sp>
      <p:sp>
        <p:nvSpPr>
          <p:cNvPr id="123" name="TextBox 18"/>
          <p:cNvSpPr txBox="1"/>
          <p:nvPr/>
        </p:nvSpPr>
        <p:spPr>
          <a:xfrm>
            <a:off x="10195560" y="1823719"/>
            <a:ext cx="1737361" cy="819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B0BEC5"/>
                </a:solidFill>
              </a:defRPr>
            </a:lvl1pPr>
          </a:lstStyle>
          <a:p>
            <a:pPr/>
            <a:r>
              <a:t>Classify news headlines as real or fake using NLP — no article body, headline text only.</a:t>
            </a:r>
          </a:p>
        </p:txBody>
      </p:sp>
      <p:sp>
        <p:nvSpPr>
          <p:cNvPr id="124" name="TextBox 19"/>
          <p:cNvSpPr txBox="1"/>
          <p:nvPr/>
        </p:nvSpPr>
        <p:spPr>
          <a:xfrm>
            <a:off x="10195560" y="3103879"/>
            <a:ext cx="1737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E94360"/>
                </a:solidFill>
              </a:defRPr>
            </a:lvl1pPr>
          </a:lstStyle>
          <a:p>
            <a:pPr/>
            <a:r>
              <a:t>Label encoding</a:t>
            </a:r>
          </a:p>
        </p:txBody>
      </p:sp>
      <p:sp>
        <p:nvSpPr>
          <p:cNvPr id="125" name="TextBox 20"/>
          <p:cNvSpPr txBox="1"/>
          <p:nvPr/>
        </p:nvSpPr>
        <p:spPr>
          <a:xfrm>
            <a:off x="10195560" y="3515360"/>
            <a:ext cx="1554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E94360"/>
                </a:solidFill>
              </a:defRPr>
            </a:lvl1pPr>
          </a:lstStyle>
          <a:p>
            <a:pPr/>
            <a:r>
              <a:t>0  Fake</a:t>
            </a:r>
          </a:p>
        </p:txBody>
      </p:sp>
      <p:sp>
        <p:nvSpPr>
          <p:cNvPr id="126" name="TextBox 21"/>
          <p:cNvSpPr txBox="1"/>
          <p:nvPr/>
        </p:nvSpPr>
        <p:spPr>
          <a:xfrm>
            <a:off x="10195560" y="3926840"/>
            <a:ext cx="1554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27AE60"/>
                </a:solidFill>
              </a:defRPr>
            </a:lvl1pPr>
          </a:lstStyle>
          <a:p>
            <a:pPr/>
            <a:r>
              <a:t>1  Real</a:t>
            </a:r>
          </a:p>
        </p:txBody>
      </p:sp>
      <p:sp>
        <p:nvSpPr>
          <p:cNvPr id="127" name="Rectangle 22"/>
          <p:cNvSpPr/>
          <p:nvPr/>
        </p:nvSpPr>
        <p:spPr>
          <a:xfrm>
            <a:off x="365759" y="4297679"/>
            <a:ext cx="5486401" cy="118872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23"/>
          <p:cNvSpPr txBox="1"/>
          <p:nvPr/>
        </p:nvSpPr>
        <p:spPr>
          <a:xfrm>
            <a:off x="548639" y="4343399"/>
            <a:ext cx="50292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E94360"/>
                </a:solidFill>
              </a:defRPr>
            </a:lvl1pPr>
          </a:lstStyle>
          <a:p>
            <a:pPr/>
            <a:r>
              <a:t>Train / Validation Split</a:t>
            </a:r>
          </a:p>
        </p:txBody>
      </p:sp>
      <p:sp>
        <p:nvSpPr>
          <p:cNvPr id="129" name="TextBox 24"/>
          <p:cNvSpPr txBox="1"/>
          <p:nvPr/>
        </p:nvSpPr>
        <p:spPr>
          <a:xfrm>
            <a:off x="548640" y="4663440"/>
            <a:ext cx="5120640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80/20 stratified split → 27,321 train · 6,831 validation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Class balance preserved: 51.45% fake / 48.55% real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"/>
          <p:cNvSpPr txBox="1"/>
          <p:nvPr/>
        </p:nvSpPr>
        <p:spPr>
          <a:xfrm>
            <a:off x="411479" y="228599"/>
            <a:ext cx="108813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NLP PIPELINE</a:t>
            </a:r>
          </a:p>
        </p:txBody>
      </p:sp>
      <p:sp>
        <p:nvSpPr>
          <p:cNvPr id="133" name="Rectangle 3"/>
          <p:cNvSpPr/>
          <p:nvPr/>
        </p:nvSpPr>
        <p:spPr>
          <a:xfrm>
            <a:off x="365759" y="7772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4"/>
          <p:cNvSpPr/>
          <p:nvPr/>
        </p:nvSpPr>
        <p:spPr>
          <a:xfrm>
            <a:off x="274319" y="1005839"/>
            <a:ext cx="1554482" cy="1005840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5"/>
          <p:cNvSpPr txBox="1"/>
          <p:nvPr/>
        </p:nvSpPr>
        <p:spPr>
          <a:xfrm>
            <a:off x="320039" y="1242060"/>
            <a:ext cx="146304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Raw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Headline</a:t>
            </a:r>
          </a:p>
        </p:txBody>
      </p:sp>
      <p:sp>
        <p:nvSpPr>
          <p:cNvPr id="136" name="TextBox 6"/>
          <p:cNvSpPr txBox="1"/>
          <p:nvPr/>
        </p:nvSpPr>
        <p:spPr>
          <a:xfrm>
            <a:off x="1874519" y="1323339"/>
            <a:ext cx="1554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B0BEC5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7" name="Rectangle 7"/>
          <p:cNvSpPr/>
          <p:nvPr/>
        </p:nvSpPr>
        <p:spPr>
          <a:xfrm>
            <a:off x="2029966" y="1005839"/>
            <a:ext cx="1554481" cy="1005840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8"/>
          <p:cNvSpPr txBox="1"/>
          <p:nvPr/>
        </p:nvSpPr>
        <p:spPr>
          <a:xfrm>
            <a:off x="2075686" y="1242060"/>
            <a:ext cx="146304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Clean &amp;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Normalize</a:t>
            </a:r>
          </a:p>
        </p:txBody>
      </p:sp>
      <p:sp>
        <p:nvSpPr>
          <p:cNvPr id="139" name="TextBox 9"/>
          <p:cNvSpPr txBox="1"/>
          <p:nvPr/>
        </p:nvSpPr>
        <p:spPr>
          <a:xfrm>
            <a:off x="3630167" y="1323339"/>
            <a:ext cx="15544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B0BEC5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0" name="Rectangle 10"/>
          <p:cNvSpPr/>
          <p:nvPr/>
        </p:nvSpPr>
        <p:spPr>
          <a:xfrm>
            <a:off x="3785615" y="1005839"/>
            <a:ext cx="1554481" cy="1005840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11"/>
          <p:cNvSpPr txBox="1"/>
          <p:nvPr/>
        </p:nvSpPr>
        <p:spPr>
          <a:xfrm>
            <a:off x="3831335" y="1242060"/>
            <a:ext cx="146304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Tokenize &amp;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Lemmatize</a:t>
            </a:r>
          </a:p>
        </p:txBody>
      </p:sp>
      <p:sp>
        <p:nvSpPr>
          <p:cNvPr id="142" name="TextBox 12"/>
          <p:cNvSpPr txBox="1"/>
          <p:nvPr/>
        </p:nvSpPr>
        <p:spPr>
          <a:xfrm>
            <a:off x="5385816" y="1323339"/>
            <a:ext cx="15544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B0BEC5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3" name="Rectangle 13"/>
          <p:cNvSpPr/>
          <p:nvPr/>
        </p:nvSpPr>
        <p:spPr>
          <a:xfrm>
            <a:off x="5541264" y="1005839"/>
            <a:ext cx="1554481" cy="1005840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14"/>
          <p:cNvSpPr txBox="1"/>
          <p:nvPr/>
        </p:nvSpPr>
        <p:spPr>
          <a:xfrm>
            <a:off x="5586984" y="1242060"/>
            <a:ext cx="146304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Feature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Extraction</a:t>
            </a:r>
          </a:p>
        </p:txBody>
      </p:sp>
      <p:sp>
        <p:nvSpPr>
          <p:cNvPr id="145" name="TextBox 15"/>
          <p:cNvSpPr txBox="1"/>
          <p:nvPr/>
        </p:nvSpPr>
        <p:spPr>
          <a:xfrm>
            <a:off x="7141463" y="1323339"/>
            <a:ext cx="15544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B0BEC5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6" name="Rectangle 16"/>
          <p:cNvSpPr/>
          <p:nvPr/>
        </p:nvSpPr>
        <p:spPr>
          <a:xfrm>
            <a:off x="7296911" y="1005839"/>
            <a:ext cx="1554481" cy="1005840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7"/>
          <p:cNvSpPr txBox="1"/>
          <p:nvPr/>
        </p:nvSpPr>
        <p:spPr>
          <a:xfrm>
            <a:off x="7342631" y="1242060"/>
            <a:ext cx="146304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Train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Classifier</a:t>
            </a:r>
          </a:p>
        </p:txBody>
      </p:sp>
      <p:sp>
        <p:nvSpPr>
          <p:cNvPr id="148" name="TextBox 18"/>
          <p:cNvSpPr txBox="1"/>
          <p:nvPr/>
        </p:nvSpPr>
        <p:spPr>
          <a:xfrm>
            <a:off x="8897112" y="1323339"/>
            <a:ext cx="15544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B0BEC5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9" name="Rectangle 19"/>
          <p:cNvSpPr/>
          <p:nvPr/>
        </p:nvSpPr>
        <p:spPr>
          <a:xfrm>
            <a:off x="9052559" y="1005839"/>
            <a:ext cx="1554481" cy="1005840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20"/>
          <p:cNvSpPr txBox="1"/>
          <p:nvPr/>
        </p:nvSpPr>
        <p:spPr>
          <a:xfrm>
            <a:off x="9098279" y="1369060"/>
            <a:ext cx="1463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Predict</a:t>
            </a:r>
          </a:p>
        </p:txBody>
      </p:sp>
      <p:sp>
        <p:nvSpPr>
          <p:cNvPr id="151" name="TextBox 21"/>
          <p:cNvSpPr txBox="1"/>
          <p:nvPr/>
        </p:nvSpPr>
        <p:spPr>
          <a:xfrm>
            <a:off x="411479" y="2285999"/>
            <a:ext cx="539496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E94360"/>
                </a:solidFill>
              </a:defRPr>
            </a:lvl1pPr>
          </a:lstStyle>
          <a:p>
            <a:pPr/>
            <a:r>
              <a:t>Preprocessing Steps</a:t>
            </a:r>
          </a:p>
        </p:txBody>
      </p:sp>
      <p:sp>
        <p:nvSpPr>
          <p:cNvPr id="152" name="Rectangle 22"/>
          <p:cNvSpPr/>
          <p:nvPr/>
        </p:nvSpPr>
        <p:spPr>
          <a:xfrm>
            <a:off x="365759" y="2743199"/>
            <a:ext cx="228601" cy="320042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23"/>
          <p:cNvSpPr txBox="1"/>
          <p:nvPr/>
        </p:nvSpPr>
        <p:spPr>
          <a:xfrm>
            <a:off x="731519" y="2743199"/>
            <a:ext cx="50292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Fix mojibake characters  (‚î → -, √© → e, ...)</a:t>
            </a:r>
          </a:p>
        </p:txBody>
      </p:sp>
      <p:sp>
        <p:nvSpPr>
          <p:cNvPr id="154" name="Rectangle 24"/>
          <p:cNvSpPr/>
          <p:nvPr/>
        </p:nvSpPr>
        <p:spPr>
          <a:xfrm>
            <a:off x="365759" y="3255264"/>
            <a:ext cx="228601" cy="32004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25"/>
          <p:cNvSpPr txBox="1"/>
          <p:nvPr/>
        </p:nvSpPr>
        <p:spPr>
          <a:xfrm>
            <a:off x="731519" y="3255264"/>
            <a:ext cx="50292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Normalize country codes  (u.s. → usa, u.k. → uk)</a:t>
            </a:r>
          </a:p>
        </p:txBody>
      </p:sp>
      <p:sp>
        <p:nvSpPr>
          <p:cNvPr id="156" name="Rectangle 26"/>
          <p:cNvSpPr/>
          <p:nvPr/>
        </p:nvSpPr>
        <p:spPr>
          <a:xfrm>
            <a:off x="365759" y="3767328"/>
            <a:ext cx="228601" cy="32004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27"/>
          <p:cNvSpPr txBox="1"/>
          <p:nvPr/>
        </p:nvSpPr>
        <p:spPr>
          <a:xfrm>
            <a:off x="731519" y="3767328"/>
            <a:ext cx="50292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Expand contractions  (don't → do not)</a:t>
            </a:r>
          </a:p>
        </p:txBody>
      </p:sp>
      <p:sp>
        <p:nvSpPr>
          <p:cNvPr id="158" name="Rectangle 28"/>
          <p:cNvSpPr/>
          <p:nvPr/>
        </p:nvSpPr>
        <p:spPr>
          <a:xfrm>
            <a:off x="365759" y="4279391"/>
            <a:ext cx="228601" cy="32004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29"/>
          <p:cNvSpPr txBox="1"/>
          <p:nvPr/>
        </p:nvSpPr>
        <p:spPr>
          <a:xfrm>
            <a:off x="731519" y="4279391"/>
            <a:ext cx="50292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Strip non-alphanumeric  ([^a-z0-9] removed)</a:t>
            </a:r>
          </a:p>
        </p:txBody>
      </p:sp>
      <p:sp>
        <p:nvSpPr>
          <p:cNvPr id="160" name="Rectangle 30"/>
          <p:cNvSpPr/>
          <p:nvPr/>
        </p:nvSpPr>
        <p:spPr>
          <a:xfrm>
            <a:off x="365759" y="4791455"/>
            <a:ext cx="228601" cy="32004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31"/>
          <p:cNvSpPr txBox="1"/>
          <p:nvPr/>
        </p:nvSpPr>
        <p:spPr>
          <a:xfrm>
            <a:off x="731519" y="4791455"/>
            <a:ext cx="50292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Remove English stopwords  (NLTK corpus)</a:t>
            </a:r>
          </a:p>
        </p:txBody>
      </p:sp>
      <p:sp>
        <p:nvSpPr>
          <p:cNvPr id="162" name="Rectangle 32"/>
          <p:cNvSpPr/>
          <p:nvPr/>
        </p:nvSpPr>
        <p:spPr>
          <a:xfrm>
            <a:off x="365759" y="5303520"/>
            <a:ext cx="228601" cy="32004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33"/>
          <p:cNvSpPr txBox="1"/>
          <p:nvPr/>
        </p:nvSpPr>
        <p:spPr>
          <a:xfrm>
            <a:off x="731519" y="5303520"/>
            <a:ext cx="502920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Lemmatize tokens  (WordNetLemmatizer)</a:t>
            </a:r>
          </a:p>
        </p:txBody>
      </p:sp>
      <p:sp>
        <p:nvSpPr>
          <p:cNvPr id="164" name="Rectangle 34"/>
          <p:cNvSpPr/>
          <p:nvPr/>
        </p:nvSpPr>
        <p:spPr>
          <a:xfrm>
            <a:off x="6217919" y="2285999"/>
            <a:ext cx="5577842" cy="393192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35"/>
          <p:cNvSpPr txBox="1"/>
          <p:nvPr/>
        </p:nvSpPr>
        <p:spPr>
          <a:xfrm>
            <a:off x="6446520" y="2377439"/>
            <a:ext cx="51206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E94360"/>
                </a:solidFill>
              </a:defRPr>
            </a:lvl1pPr>
          </a:lstStyle>
          <a:p>
            <a:pPr/>
            <a:r>
              <a:t>Before → After  (examples)</a:t>
            </a:r>
          </a:p>
        </p:txBody>
      </p:sp>
      <p:sp>
        <p:nvSpPr>
          <p:cNvPr id="166" name="TextBox 36"/>
          <p:cNvSpPr txBox="1"/>
          <p:nvPr/>
        </p:nvSpPr>
        <p:spPr>
          <a:xfrm>
            <a:off x="6446520" y="2880360"/>
            <a:ext cx="512064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B0BEC5"/>
                </a:solidFill>
              </a:defRPr>
            </a:lvl1pPr>
          </a:lstStyle>
          <a:p>
            <a:pPr/>
            <a:r>
              <a:t>"rubio‚s campaign just committed suicide in this state"</a:t>
            </a:r>
          </a:p>
        </p:txBody>
      </p:sp>
      <p:sp>
        <p:nvSpPr>
          <p:cNvPr id="167" name="TextBox 37"/>
          <p:cNvSpPr txBox="1"/>
          <p:nvPr/>
        </p:nvSpPr>
        <p:spPr>
          <a:xfrm>
            <a:off x="6446520" y="3264408"/>
            <a:ext cx="512064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27AE60"/>
                </a:solidFill>
              </a:defRPr>
            </a:lvl1pPr>
          </a:lstStyle>
          <a:p>
            <a:pPr/>
            <a:r>
              <a:t>→  "rubio campaign committed suicide state"</a:t>
            </a:r>
          </a:p>
        </p:txBody>
      </p:sp>
      <p:sp>
        <p:nvSpPr>
          <p:cNvPr id="168" name="Rectangle 38"/>
          <p:cNvSpPr/>
          <p:nvPr/>
        </p:nvSpPr>
        <p:spPr>
          <a:xfrm>
            <a:off x="6400800" y="3728974"/>
            <a:ext cx="5212080" cy="12701"/>
          </a:xfrm>
          <a:prstGeom prst="rect">
            <a:avLst/>
          </a:prstGeom>
          <a:solidFill>
            <a:srgbClr val="B0BEC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39"/>
          <p:cNvSpPr txBox="1"/>
          <p:nvPr/>
        </p:nvSpPr>
        <p:spPr>
          <a:xfrm>
            <a:off x="6446520" y="3931920"/>
            <a:ext cx="512064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B0BEC5"/>
                </a:solidFill>
              </a:defRPr>
            </a:lvl1pPr>
          </a:lstStyle>
          <a:p>
            <a:pPr/>
            <a:r>
              <a:t>"senator warren calls on fed to remove wells fargo board"</a:t>
            </a:r>
          </a:p>
        </p:txBody>
      </p:sp>
      <p:sp>
        <p:nvSpPr>
          <p:cNvPr id="170" name="TextBox 40"/>
          <p:cNvSpPr txBox="1"/>
          <p:nvPr/>
        </p:nvSpPr>
        <p:spPr>
          <a:xfrm>
            <a:off x="6446520" y="4315967"/>
            <a:ext cx="51206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27AE60"/>
                </a:solidFill>
              </a:defRPr>
            </a:lvl1pPr>
          </a:lstStyle>
          <a:p>
            <a:pPr/>
            <a:r>
              <a:t>→  "senator warren call fed remove well fargo board"</a:t>
            </a:r>
          </a:p>
        </p:txBody>
      </p:sp>
      <p:sp>
        <p:nvSpPr>
          <p:cNvPr id="171" name="Rectangle 41"/>
          <p:cNvSpPr/>
          <p:nvPr/>
        </p:nvSpPr>
        <p:spPr>
          <a:xfrm>
            <a:off x="6400800" y="4780533"/>
            <a:ext cx="5212080" cy="12701"/>
          </a:xfrm>
          <a:prstGeom prst="rect">
            <a:avLst/>
          </a:prstGeom>
          <a:solidFill>
            <a:srgbClr val="B0BEC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42"/>
          <p:cNvSpPr txBox="1"/>
          <p:nvPr/>
        </p:nvSpPr>
        <p:spPr>
          <a:xfrm>
            <a:off x="6446520" y="4983479"/>
            <a:ext cx="512064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B0BEC5"/>
                </a:solidFill>
              </a:defRPr>
            </a:lvl1pPr>
          </a:lstStyle>
          <a:p>
            <a:pPr/>
            <a:r>
              <a:t>"zimbabwe's mugabe	coup chief meet with smiles"</a:t>
            </a:r>
          </a:p>
        </p:txBody>
      </p:sp>
      <p:sp>
        <p:nvSpPr>
          <p:cNvPr id="173" name="TextBox 43"/>
          <p:cNvSpPr txBox="1"/>
          <p:nvPr/>
        </p:nvSpPr>
        <p:spPr>
          <a:xfrm>
            <a:off x="6446520" y="5367527"/>
            <a:ext cx="512064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27AE60"/>
                </a:solidFill>
              </a:defRPr>
            </a:lvl1pPr>
          </a:lstStyle>
          <a:p>
            <a:pPr/>
            <a:r>
              <a:t>→  "zimbabwe mugabe coup chief meet smile"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2"/>
          <p:cNvSpPr txBox="1"/>
          <p:nvPr/>
        </p:nvSpPr>
        <p:spPr>
          <a:xfrm>
            <a:off x="411479" y="228599"/>
            <a:ext cx="108813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FEATURE EXTRACTION METHODS</a:t>
            </a:r>
          </a:p>
        </p:txBody>
      </p:sp>
      <p:sp>
        <p:nvSpPr>
          <p:cNvPr id="177" name="Rectangle 3"/>
          <p:cNvSpPr/>
          <p:nvPr/>
        </p:nvSpPr>
        <p:spPr>
          <a:xfrm>
            <a:off x="365759" y="7772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Rectangle 4"/>
          <p:cNvSpPr/>
          <p:nvPr/>
        </p:nvSpPr>
        <p:spPr>
          <a:xfrm>
            <a:off x="274319" y="960119"/>
            <a:ext cx="2194562" cy="530352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Rectangle 5"/>
          <p:cNvSpPr/>
          <p:nvPr/>
        </p:nvSpPr>
        <p:spPr>
          <a:xfrm>
            <a:off x="274319" y="960119"/>
            <a:ext cx="2194562" cy="201169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6"/>
          <p:cNvSpPr txBox="1"/>
          <p:nvPr/>
        </p:nvSpPr>
        <p:spPr>
          <a:xfrm>
            <a:off x="320039" y="1252219"/>
            <a:ext cx="2103122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BoW</a:t>
            </a:r>
          </a:p>
        </p:txBody>
      </p:sp>
      <p:sp>
        <p:nvSpPr>
          <p:cNvPr id="181" name="TextBox 7"/>
          <p:cNvSpPr txBox="1"/>
          <p:nvPr/>
        </p:nvSpPr>
        <p:spPr>
          <a:xfrm>
            <a:off x="320039" y="1691639"/>
            <a:ext cx="21031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Bag of Words</a:t>
            </a:r>
          </a:p>
        </p:txBody>
      </p:sp>
      <p:sp>
        <p:nvSpPr>
          <p:cNvPr id="182" name="Rectangle 8"/>
          <p:cNvSpPr/>
          <p:nvPr/>
        </p:nvSpPr>
        <p:spPr>
          <a:xfrm>
            <a:off x="548640" y="2103120"/>
            <a:ext cx="1645918" cy="502920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9"/>
          <p:cNvSpPr txBox="1"/>
          <p:nvPr/>
        </p:nvSpPr>
        <p:spPr>
          <a:xfrm>
            <a:off x="594360" y="2184907"/>
            <a:ext cx="1554478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14,931</a:t>
            </a:r>
          </a:p>
        </p:txBody>
      </p:sp>
      <p:sp>
        <p:nvSpPr>
          <p:cNvPr id="184" name="TextBox 10"/>
          <p:cNvSpPr txBox="1"/>
          <p:nvPr/>
        </p:nvSpPr>
        <p:spPr>
          <a:xfrm>
            <a:off x="320039" y="2633472"/>
            <a:ext cx="210312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B0BEC5"/>
                </a:solidFill>
              </a:defRPr>
            </a:lvl1pPr>
          </a:lstStyle>
          <a:p>
            <a:pPr/>
            <a:r>
              <a:t>dimensions</a:t>
            </a:r>
          </a:p>
        </p:txBody>
      </p:sp>
      <p:sp>
        <p:nvSpPr>
          <p:cNvPr id="185" name="TextBox 11"/>
          <p:cNvSpPr txBox="1"/>
          <p:nvPr/>
        </p:nvSpPr>
        <p:spPr>
          <a:xfrm>
            <a:off x="411480" y="3017520"/>
            <a:ext cx="1920239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Count of token occurrences.</a:t>
            </a:r>
          </a:p>
          <a:p>
            <a:pPr algn="ctr">
              <a:defRPr sz="1100">
                <a:solidFill>
                  <a:srgbClr val="B0BEC5"/>
                </a:solidFill>
              </a:defRPr>
            </a:pPr>
            <a:r>
              <a:t>Sparse matrix, no word order.</a:t>
            </a:r>
          </a:p>
        </p:txBody>
      </p:sp>
      <p:sp>
        <p:nvSpPr>
          <p:cNvPr id="186" name="Rectangle 12"/>
          <p:cNvSpPr/>
          <p:nvPr/>
        </p:nvSpPr>
        <p:spPr>
          <a:xfrm>
            <a:off x="2523743" y="960119"/>
            <a:ext cx="2194562" cy="530352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Rectangle 13"/>
          <p:cNvSpPr/>
          <p:nvPr/>
        </p:nvSpPr>
        <p:spPr>
          <a:xfrm>
            <a:off x="2523743" y="960119"/>
            <a:ext cx="2194562" cy="201169"/>
          </a:xfrm>
          <a:prstGeom prst="rect">
            <a:avLst/>
          </a:prstGeom>
          <a:solidFill>
            <a:srgbClr val="F39C1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14"/>
          <p:cNvSpPr txBox="1"/>
          <p:nvPr/>
        </p:nvSpPr>
        <p:spPr>
          <a:xfrm>
            <a:off x="2569463" y="1252219"/>
            <a:ext cx="2103122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TF-IDF</a:t>
            </a:r>
          </a:p>
        </p:txBody>
      </p:sp>
      <p:sp>
        <p:nvSpPr>
          <p:cNvPr id="189" name="TextBox 15"/>
          <p:cNvSpPr txBox="1"/>
          <p:nvPr/>
        </p:nvSpPr>
        <p:spPr>
          <a:xfrm>
            <a:off x="2569463" y="1691639"/>
            <a:ext cx="21031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TF-IDF</a:t>
            </a:r>
          </a:p>
        </p:txBody>
      </p:sp>
      <p:sp>
        <p:nvSpPr>
          <p:cNvPr id="190" name="Rectangle 16"/>
          <p:cNvSpPr/>
          <p:nvPr/>
        </p:nvSpPr>
        <p:spPr>
          <a:xfrm>
            <a:off x="2798062" y="2103120"/>
            <a:ext cx="1645919" cy="502920"/>
          </a:xfrm>
          <a:prstGeom prst="rect">
            <a:avLst/>
          </a:prstGeom>
          <a:solidFill>
            <a:srgbClr val="F39C1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17"/>
          <p:cNvSpPr txBox="1"/>
          <p:nvPr/>
        </p:nvSpPr>
        <p:spPr>
          <a:xfrm>
            <a:off x="2843782" y="2184907"/>
            <a:ext cx="155447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14,931</a:t>
            </a:r>
          </a:p>
        </p:txBody>
      </p:sp>
      <p:sp>
        <p:nvSpPr>
          <p:cNvPr id="192" name="TextBox 18"/>
          <p:cNvSpPr txBox="1"/>
          <p:nvPr/>
        </p:nvSpPr>
        <p:spPr>
          <a:xfrm>
            <a:off x="2569463" y="2633472"/>
            <a:ext cx="210312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B0BEC5"/>
                </a:solidFill>
              </a:defRPr>
            </a:lvl1pPr>
          </a:lstStyle>
          <a:p>
            <a:pPr/>
            <a:r>
              <a:t>dimensions</a:t>
            </a:r>
          </a:p>
        </p:txBody>
      </p:sp>
      <p:sp>
        <p:nvSpPr>
          <p:cNvPr id="193" name="TextBox 19"/>
          <p:cNvSpPr txBox="1"/>
          <p:nvPr/>
        </p:nvSpPr>
        <p:spPr>
          <a:xfrm>
            <a:off x="2660903" y="3017520"/>
            <a:ext cx="1920240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Weights rare-but-discriminative</a:t>
            </a:r>
          </a:p>
          <a:p>
            <a:pPr algn="ctr">
              <a:defRPr sz="1100">
                <a:solidFill>
                  <a:srgbClr val="B0BEC5"/>
                </a:solidFill>
              </a:defRPr>
            </a:pPr>
            <a:r>
              <a:t>terms higher than common ones.</a:t>
            </a:r>
          </a:p>
        </p:txBody>
      </p:sp>
      <p:sp>
        <p:nvSpPr>
          <p:cNvPr id="194" name="Rectangle 20"/>
          <p:cNvSpPr/>
          <p:nvPr/>
        </p:nvSpPr>
        <p:spPr>
          <a:xfrm>
            <a:off x="4773167" y="960119"/>
            <a:ext cx="2194561" cy="530352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Rectangle 21"/>
          <p:cNvSpPr/>
          <p:nvPr/>
        </p:nvSpPr>
        <p:spPr>
          <a:xfrm>
            <a:off x="4773167" y="960119"/>
            <a:ext cx="2194561" cy="201169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2"/>
          <p:cNvSpPr txBox="1"/>
          <p:nvPr/>
        </p:nvSpPr>
        <p:spPr>
          <a:xfrm>
            <a:off x="4818887" y="1252219"/>
            <a:ext cx="210312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Word2Vec</a:t>
            </a:r>
          </a:p>
        </p:txBody>
      </p:sp>
      <p:sp>
        <p:nvSpPr>
          <p:cNvPr id="197" name="TextBox 23"/>
          <p:cNvSpPr txBox="1"/>
          <p:nvPr/>
        </p:nvSpPr>
        <p:spPr>
          <a:xfrm>
            <a:off x="4818887" y="1691639"/>
            <a:ext cx="21031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Word2Vec</a:t>
            </a:r>
          </a:p>
        </p:txBody>
      </p:sp>
      <p:sp>
        <p:nvSpPr>
          <p:cNvPr id="198" name="Rectangle 24"/>
          <p:cNvSpPr/>
          <p:nvPr/>
        </p:nvSpPr>
        <p:spPr>
          <a:xfrm>
            <a:off x="5047488" y="2103120"/>
            <a:ext cx="1645919" cy="502920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25"/>
          <p:cNvSpPr txBox="1"/>
          <p:nvPr/>
        </p:nvSpPr>
        <p:spPr>
          <a:xfrm>
            <a:off x="5093208" y="2184907"/>
            <a:ext cx="155447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100-dim</a:t>
            </a:r>
          </a:p>
        </p:txBody>
      </p:sp>
      <p:sp>
        <p:nvSpPr>
          <p:cNvPr id="200" name="TextBox 26"/>
          <p:cNvSpPr txBox="1"/>
          <p:nvPr/>
        </p:nvSpPr>
        <p:spPr>
          <a:xfrm>
            <a:off x="4818887" y="2633472"/>
            <a:ext cx="21031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B0BEC5"/>
                </a:solidFill>
              </a:defRPr>
            </a:lvl1pPr>
          </a:lstStyle>
          <a:p>
            <a:pPr/>
            <a:r>
              <a:t>dimensions</a:t>
            </a:r>
          </a:p>
        </p:txBody>
      </p:sp>
      <p:sp>
        <p:nvSpPr>
          <p:cNvPr id="201" name="TextBox 27"/>
          <p:cNvSpPr txBox="1"/>
          <p:nvPr/>
        </p:nvSpPr>
        <p:spPr>
          <a:xfrm>
            <a:off x="4910326" y="3017520"/>
            <a:ext cx="192024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Trained on training corpus.</a:t>
            </a:r>
          </a:p>
          <a:p>
            <a:pPr algn="ctr">
              <a:defRPr sz="1100">
                <a:solidFill>
                  <a:srgbClr val="B0BEC5"/>
                </a:solidFill>
              </a:defRPr>
            </a:pPr>
            <a:r>
              <a:t>Mean-pooled word vectors.</a:t>
            </a:r>
          </a:p>
        </p:txBody>
      </p:sp>
      <p:sp>
        <p:nvSpPr>
          <p:cNvPr id="202" name="Rectangle 28"/>
          <p:cNvSpPr/>
          <p:nvPr/>
        </p:nvSpPr>
        <p:spPr>
          <a:xfrm>
            <a:off x="7022592" y="960119"/>
            <a:ext cx="2194561" cy="530352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Rectangle 29"/>
          <p:cNvSpPr/>
          <p:nvPr/>
        </p:nvSpPr>
        <p:spPr>
          <a:xfrm>
            <a:off x="7022592" y="960119"/>
            <a:ext cx="2194561" cy="201169"/>
          </a:xfrm>
          <a:prstGeom prst="rect">
            <a:avLst/>
          </a:prstGeom>
          <a:solidFill>
            <a:srgbClr val="8E44A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30"/>
          <p:cNvSpPr txBox="1"/>
          <p:nvPr/>
        </p:nvSpPr>
        <p:spPr>
          <a:xfrm>
            <a:off x="7068312" y="1252219"/>
            <a:ext cx="210312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fastText</a:t>
            </a:r>
          </a:p>
        </p:txBody>
      </p:sp>
      <p:sp>
        <p:nvSpPr>
          <p:cNvPr id="205" name="TextBox 31"/>
          <p:cNvSpPr txBox="1"/>
          <p:nvPr/>
        </p:nvSpPr>
        <p:spPr>
          <a:xfrm>
            <a:off x="7068312" y="1691639"/>
            <a:ext cx="21031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fastText</a:t>
            </a:r>
          </a:p>
        </p:txBody>
      </p:sp>
      <p:sp>
        <p:nvSpPr>
          <p:cNvPr id="206" name="Rectangle 32"/>
          <p:cNvSpPr/>
          <p:nvPr/>
        </p:nvSpPr>
        <p:spPr>
          <a:xfrm>
            <a:off x="7296911" y="2103120"/>
            <a:ext cx="1645919" cy="502920"/>
          </a:xfrm>
          <a:prstGeom prst="rect">
            <a:avLst/>
          </a:prstGeom>
          <a:solidFill>
            <a:srgbClr val="8E44A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33"/>
          <p:cNvSpPr txBox="1"/>
          <p:nvPr/>
        </p:nvSpPr>
        <p:spPr>
          <a:xfrm>
            <a:off x="7342631" y="2184907"/>
            <a:ext cx="155447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300-dim</a:t>
            </a:r>
          </a:p>
        </p:txBody>
      </p:sp>
      <p:sp>
        <p:nvSpPr>
          <p:cNvPr id="208" name="TextBox 34"/>
          <p:cNvSpPr txBox="1"/>
          <p:nvPr/>
        </p:nvSpPr>
        <p:spPr>
          <a:xfrm>
            <a:off x="7068312" y="2633472"/>
            <a:ext cx="21031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B0BEC5"/>
                </a:solidFill>
              </a:defRPr>
            </a:lvl1pPr>
          </a:lstStyle>
          <a:p>
            <a:pPr/>
            <a:r>
              <a:t>dimensions</a:t>
            </a:r>
          </a:p>
        </p:txBody>
      </p:sp>
      <p:sp>
        <p:nvSpPr>
          <p:cNvPr id="209" name="TextBox 35"/>
          <p:cNvSpPr txBox="1"/>
          <p:nvPr/>
        </p:nvSpPr>
        <p:spPr>
          <a:xfrm>
            <a:off x="7159750" y="3017520"/>
            <a:ext cx="192024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Pretrained cc.en.300.bin.</a:t>
            </a:r>
          </a:p>
          <a:p>
            <a:pPr algn="ctr">
              <a:defRPr sz="1100">
                <a:solidFill>
                  <a:srgbClr val="B0BEC5"/>
                </a:solidFill>
              </a:defRPr>
            </a:pPr>
            <a:r>
              <a:t>Subword-aware; handles typos.</a:t>
            </a:r>
          </a:p>
        </p:txBody>
      </p:sp>
      <p:sp>
        <p:nvSpPr>
          <p:cNvPr id="210" name="Rectangle 36"/>
          <p:cNvSpPr/>
          <p:nvPr/>
        </p:nvSpPr>
        <p:spPr>
          <a:xfrm>
            <a:off x="9272016" y="960119"/>
            <a:ext cx="2194561" cy="530352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Rectangle 37"/>
          <p:cNvSpPr/>
          <p:nvPr/>
        </p:nvSpPr>
        <p:spPr>
          <a:xfrm>
            <a:off x="9272016" y="960119"/>
            <a:ext cx="2194561" cy="201169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38"/>
          <p:cNvSpPr txBox="1"/>
          <p:nvPr/>
        </p:nvSpPr>
        <p:spPr>
          <a:xfrm>
            <a:off x="9317736" y="1252219"/>
            <a:ext cx="210312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BERT</a:t>
            </a:r>
          </a:p>
        </p:txBody>
      </p:sp>
      <p:sp>
        <p:nvSpPr>
          <p:cNvPr id="213" name="TextBox 39"/>
          <p:cNvSpPr txBox="1"/>
          <p:nvPr/>
        </p:nvSpPr>
        <p:spPr>
          <a:xfrm>
            <a:off x="9317736" y="1691639"/>
            <a:ext cx="21031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BERT</a:t>
            </a:r>
          </a:p>
        </p:txBody>
      </p:sp>
      <p:sp>
        <p:nvSpPr>
          <p:cNvPr id="214" name="Rectangle 40"/>
          <p:cNvSpPr/>
          <p:nvPr/>
        </p:nvSpPr>
        <p:spPr>
          <a:xfrm>
            <a:off x="9546335" y="2103120"/>
            <a:ext cx="1645919" cy="502920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41"/>
          <p:cNvSpPr txBox="1"/>
          <p:nvPr/>
        </p:nvSpPr>
        <p:spPr>
          <a:xfrm>
            <a:off x="9592055" y="2184907"/>
            <a:ext cx="1554479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768-dim</a:t>
            </a:r>
          </a:p>
        </p:txBody>
      </p:sp>
      <p:sp>
        <p:nvSpPr>
          <p:cNvPr id="216" name="TextBox 42"/>
          <p:cNvSpPr txBox="1"/>
          <p:nvPr/>
        </p:nvSpPr>
        <p:spPr>
          <a:xfrm>
            <a:off x="9317736" y="2633472"/>
            <a:ext cx="21031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B0BEC5"/>
                </a:solidFill>
              </a:defRPr>
            </a:lvl1pPr>
          </a:lstStyle>
          <a:p>
            <a:pPr/>
            <a:r>
              <a:t>dimensions</a:t>
            </a:r>
          </a:p>
        </p:txBody>
      </p:sp>
      <p:sp>
        <p:nvSpPr>
          <p:cNvPr id="217" name="TextBox 43"/>
          <p:cNvSpPr txBox="1"/>
          <p:nvPr/>
        </p:nvSpPr>
        <p:spPr>
          <a:xfrm>
            <a:off x="9409176" y="3017520"/>
            <a:ext cx="192024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bert-base-uncased CLS token.</a:t>
            </a:r>
          </a:p>
          <a:p>
            <a:pPr algn="ctr">
              <a:defRPr sz="1100">
                <a:solidFill>
                  <a:srgbClr val="B0BEC5"/>
                </a:solidFill>
              </a:defRPr>
            </a:pPr>
            <a:r>
              <a:t>Frozen; no fine-tuning.</a:t>
            </a:r>
          </a:p>
        </p:txBody>
      </p:sp>
      <p:sp>
        <p:nvSpPr>
          <p:cNvPr id="218" name="TextBox 44"/>
          <p:cNvSpPr txBox="1"/>
          <p:nvPr/>
        </p:nvSpPr>
        <p:spPr>
          <a:xfrm>
            <a:off x="320040" y="6393179"/>
            <a:ext cx="4480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B0BEC5"/>
                </a:solidFill>
              </a:defRPr>
            </a:lvl1pPr>
          </a:lstStyle>
          <a:p>
            <a:pPr/>
            <a:r>
              <a:t>← Classical NLP</a:t>
            </a:r>
          </a:p>
        </p:txBody>
      </p:sp>
      <p:sp>
        <p:nvSpPr>
          <p:cNvPr id="219" name="TextBox 45"/>
          <p:cNvSpPr txBox="1"/>
          <p:nvPr/>
        </p:nvSpPr>
        <p:spPr>
          <a:xfrm>
            <a:off x="7743491" y="6393179"/>
            <a:ext cx="4023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i="1" sz="1200">
                <a:solidFill>
                  <a:srgbClr val="B0BEC5"/>
                </a:solidFill>
              </a:defRPr>
            </a:lvl1pPr>
          </a:lstStyle>
          <a:p>
            <a:pPr/>
            <a:r>
              <a:t>Neural / Contextual →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2"/>
          <p:cNvSpPr txBox="1"/>
          <p:nvPr/>
        </p:nvSpPr>
        <p:spPr>
          <a:xfrm>
            <a:off x="411479" y="228599"/>
            <a:ext cx="108813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CLASSIFIERS</a:t>
            </a:r>
          </a:p>
        </p:txBody>
      </p:sp>
      <p:sp>
        <p:nvSpPr>
          <p:cNvPr id="223" name="Rectangle 3"/>
          <p:cNvSpPr/>
          <p:nvPr/>
        </p:nvSpPr>
        <p:spPr>
          <a:xfrm>
            <a:off x="365759" y="7772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Rectangle 4"/>
          <p:cNvSpPr/>
          <p:nvPr/>
        </p:nvSpPr>
        <p:spPr>
          <a:xfrm>
            <a:off x="365759" y="914400"/>
            <a:ext cx="3474722" cy="521208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Rectangle 5"/>
          <p:cNvSpPr/>
          <p:nvPr/>
        </p:nvSpPr>
        <p:spPr>
          <a:xfrm>
            <a:off x="365759" y="914400"/>
            <a:ext cx="3474722" cy="256032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6"/>
          <p:cNvSpPr txBox="1"/>
          <p:nvPr/>
        </p:nvSpPr>
        <p:spPr>
          <a:xfrm>
            <a:off x="411479" y="1188719"/>
            <a:ext cx="3383282" cy="856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</a:defRPr>
            </a:pPr>
            <a:r>
              <a:t>Logistic</a:t>
            </a:r>
          </a:p>
          <a:p>
            <a:pPr algn="ctr">
              <a:defRPr b="1" sz="2600">
                <a:solidFill>
                  <a:srgbClr val="FFFFFF"/>
                </a:solidFill>
              </a:defRPr>
            </a:pPr>
            <a:r>
              <a:t>Regression</a:t>
            </a:r>
          </a:p>
        </p:txBody>
      </p:sp>
      <p:sp>
        <p:nvSpPr>
          <p:cNvPr id="227" name="TextBox 7"/>
          <p:cNvSpPr txBox="1"/>
          <p:nvPr/>
        </p:nvSpPr>
        <p:spPr>
          <a:xfrm>
            <a:off x="411479" y="2011679"/>
            <a:ext cx="338328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300">
                <a:solidFill>
                  <a:srgbClr val="B0BEC5"/>
                </a:solidFill>
              </a:defRPr>
            </a:lvl1pPr>
          </a:lstStyle>
          <a:p>
            <a:pPr/>
            <a:r>
              <a:t>Linear baseline</a:t>
            </a:r>
          </a:p>
        </p:txBody>
      </p:sp>
      <p:sp>
        <p:nvSpPr>
          <p:cNvPr id="228" name="Rectangle 8"/>
          <p:cNvSpPr/>
          <p:nvPr/>
        </p:nvSpPr>
        <p:spPr>
          <a:xfrm>
            <a:off x="640080" y="2377439"/>
            <a:ext cx="2926079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9"/>
          <p:cNvSpPr txBox="1"/>
          <p:nvPr/>
        </p:nvSpPr>
        <p:spPr>
          <a:xfrm>
            <a:off x="594359" y="2487167"/>
            <a:ext cx="3017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E94360"/>
                </a:solidFill>
              </a:defRPr>
            </a:lvl1pPr>
          </a:lstStyle>
          <a:p>
            <a:pPr/>
            <a:r>
              <a:t>Parameters</a:t>
            </a:r>
          </a:p>
        </p:txBody>
      </p:sp>
      <p:sp>
        <p:nvSpPr>
          <p:cNvPr id="230" name="TextBox 10"/>
          <p:cNvSpPr txBox="1"/>
          <p:nvPr/>
        </p:nvSpPr>
        <p:spPr>
          <a:xfrm>
            <a:off x="594359" y="2761488"/>
            <a:ext cx="301752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max_iter=1000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Random state: 96</a:t>
            </a:r>
          </a:p>
        </p:txBody>
      </p:sp>
      <p:sp>
        <p:nvSpPr>
          <p:cNvPr id="231" name="TextBox 11"/>
          <p:cNvSpPr txBox="1"/>
          <p:nvPr/>
        </p:nvSpPr>
        <p:spPr>
          <a:xfrm>
            <a:off x="594359" y="3428999"/>
            <a:ext cx="3017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E94360"/>
                </a:solidFill>
              </a:defRPr>
            </a:lvl1pPr>
          </a:lstStyle>
          <a:p>
            <a:pPr/>
            <a:r>
              <a:t>Insight</a:t>
            </a:r>
          </a:p>
        </p:txBody>
      </p:sp>
      <p:sp>
        <p:nvSpPr>
          <p:cNvPr id="232" name="TextBox 12"/>
          <p:cNvSpPr txBox="1"/>
          <p:nvPr/>
        </p:nvSpPr>
        <p:spPr>
          <a:xfrm>
            <a:off x="594359" y="3703320"/>
            <a:ext cx="3017522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Best overall — linear decision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boundary works well with sparse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high-dim BoW/TF-IDF features.</a:t>
            </a:r>
          </a:p>
        </p:txBody>
      </p:sp>
      <p:sp>
        <p:nvSpPr>
          <p:cNvPr id="233" name="Rectangle 13"/>
          <p:cNvSpPr/>
          <p:nvPr/>
        </p:nvSpPr>
        <p:spPr>
          <a:xfrm>
            <a:off x="731519" y="5029199"/>
            <a:ext cx="2743201" cy="50292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14"/>
          <p:cNvSpPr txBox="1"/>
          <p:nvPr/>
        </p:nvSpPr>
        <p:spPr>
          <a:xfrm>
            <a:off x="777239" y="5110988"/>
            <a:ext cx="2651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→ WINNER</a:t>
            </a:r>
          </a:p>
        </p:txBody>
      </p:sp>
      <p:sp>
        <p:nvSpPr>
          <p:cNvPr id="235" name="Rectangle 15"/>
          <p:cNvSpPr/>
          <p:nvPr/>
        </p:nvSpPr>
        <p:spPr>
          <a:xfrm>
            <a:off x="4160520" y="914400"/>
            <a:ext cx="3474721" cy="521208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Rectangle 16"/>
          <p:cNvSpPr/>
          <p:nvPr/>
        </p:nvSpPr>
        <p:spPr>
          <a:xfrm>
            <a:off x="4160520" y="914400"/>
            <a:ext cx="3474721" cy="256032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17"/>
          <p:cNvSpPr txBox="1"/>
          <p:nvPr/>
        </p:nvSpPr>
        <p:spPr>
          <a:xfrm>
            <a:off x="4206240" y="1188719"/>
            <a:ext cx="3383281" cy="856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</a:defRPr>
            </a:pPr>
            <a:r>
              <a:t>Random</a:t>
            </a:r>
          </a:p>
          <a:p>
            <a:pPr algn="ctr">
              <a:defRPr b="1" sz="2600">
                <a:solidFill>
                  <a:srgbClr val="FFFFFF"/>
                </a:solidFill>
              </a:defRPr>
            </a:pPr>
            <a:r>
              <a:t>Forest</a:t>
            </a:r>
          </a:p>
        </p:txBody>
      </p:sp>
      <p:sp>
        <p:nvSpPr>
          <p:cNvPr id="238" name="TextBox 18"/>
          <p:cNvSpPr txBox="1"/>
          <p:nvPr/>
        </p:nvSpPr>
        <p:spPr>
          <a:xfrm>
            <a:off x="4206240" y="2011679"/>
            <a:ext cx="33832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300">
                <a:solidFill>
                  <a:srgbClr val="B0BEC5"/>
                </a:solidFill>
              </a:defRPr>
            </a:lvl1pPr>
          </a:lstStyle>
          <a:p>
            <a:pPr/>
            <a:r>
              <a:t>Ensemble of decision trees</a:t>
            </a:r>
          </a:p>
        </p:txBody>
      </p:sp>
      <p:sp>
        <p:nvSpPr>
          <p:cNvPr id="239" name="Rectangle 19"/>
          <p:cNvSpPr/>
          <p:nvPr/>
        </p:nvSpPr>
        <p:spPr>
          <a:xfrm>
            <a:off x="4434840" y="2377439"/>
            <a:ext cx="2926080" cy="27433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20"/>
          <p:cNvSpPr txBox="1"/>
          <p:nvPr/>
        </p:nvSpPr>
        <p:spPr>
          <a:xfrm>
            <a:off x="4389119" y="2487167"/>
            <a:ext cx="3017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0F3D9C"/>
                </a:solidFill>
              </a:defRPr>
            </a:lvl1pPr>
          </a:lstStyle>
          <a:p>
            <a:pPr/>
            <a:r>
              <a:t>Parameters</a:t>
            </a:r>
          </a:p>
        </p:txBody>
      </p:sp>
      <p:sp>
        <p:nvSpPr>
          <p:cNvPr id="241" name="TextBox 21"/>
          <p:cNvSpPr txBox="1"/>
          <p:nvPr/>
        </p:nvSpPr>
        <p:spPr>
          <a:xfrm>
            <a:off x="4389119" y="2761488"/>
            <a:ext cx="301752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n_estimators=200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All CPU cores (n_jobs=-1)</a:t>
            </a:r>
          </a:p>
        </p:txBody>
      </p:sp>
      <p:sp>
        <p:nvSpPr>
          <p:cNvPr id="242" name="TextBox 22"/>
          <p:cNvSpPr txBox="1"/>
          <p:nvPr/>
        </p:nvSpPr>
        <p:spPr>
          <a:xfrm>
            <a:off x="4389119" y="3428999"/>
            <a:ext cx="3017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0F3D9C"/>
                </a:solidFill>
              </a:defRPr>
            </a:lvl1pPr>
          </a:lstStyle>
          <a:p>
            <a:pPr/>
            <a:r>
              <a:t>Insight</a:t>
            </a:r>
          </a:p>
        </p:txBody>
      </p:sp>
      <p:sp>
        <p:nvSpPr>
          <p:cNvPr id="243" name="TextBox 23"/>
          <p:cNvSpPr txBox="1"/>
          <p:nvPr/>
        </p:nvSpPr>
        <p:spPr>
          <a:xfrm>
            <a:off x="4389119" y="3703320"/>
            <a:ext cx="301752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Captures non-linear patterns.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Strong with Word2Vec features.</a:t>
            </a:r>
          </a:p>
        </p:txBody>
      </p:sp>
      <p:sp>
        <p:nvSpPr>
          <p:cNvPr id="244" name="Rectangle 24"/>
          <p:cNvSpPr/>
          <p:nvPr/>
        </p:nvSpPr>
        <p:spPr>
          <a:xfrm>
            <a:off x="4526279" y="5029199"/>
            <a:ext cx="2743201" cy="502921"/>
          </a:xfrm>
          <a:prstGeom prst="rect">
            <a:avLst/>
          </a:prstGeom>
          <a:solidFill>
            <a:srgbClr val="0F3D9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TextBox 25"/>
          <p:cNvSpPr txBox="1"/>
          <p:nvPr/>
        </p:nvSpPr>
        <p:spPr>
          <a:xfrm>
            <a:off x="4571999" y="5110988"/>
            <a:ext cx="2651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→ Strong runner-up</a:t>
            </a:r>
          </a:p>
        </p:txBody>
      </p:sp>
      <p:sp>
        <p:nvSpPr>
          <p:cNvPr id="246" name="Rectangle 26"/>
          <p:cNvSpPr/>
          <p:nvPr/>
        </p:nvSpPr>
        <p:spPr>
          <a:xfrm>
            <a:off x="7955278" y="914400"/>
            <a:ext cx="3474721" cy="521208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Rectangle 27"/>
          <p:cNvSpPr/>
          <p:nvPr/>
        </p:nvSpPr>
        <p:spPr>
          <a:xfrm>
            <a:off x="7955278" y="914400"/>
            <a:ext cx="3474721" cy="256032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28"/>
          <p:cNvSpPr txBox="1"/>
          <p:nvPr/>
        </p:nvSpPr>
        <p:spPr>
          <a:xfrm>
            <a:off x="8000998" y="1188719"/>
            <a:ext cx="3383281" cy="856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</a:defRPr>
            </a:pPr>
            <a:r>
              <a:t>Naive</a:t>
            </a:r>
          </a:p>
          <a:p>
            <a:pPr algn="ctr">
              <a:defRPr b="1" sz="2600">
                <a:solidFill>
                  <a:srgbClr val="FFFFFF"/>
                </a:solidFill>
              </a:defRPr>
            </a:pPr>
            <a:r>
              <a:t>Bayes</a:t>
            </a:r>
          </a:p>
        </p:txBody>
      </p:sp>
      <p:sp>
        <p:nvSpPr>
          <p:cNvPr id="249" name="TextBox 29"/>
          <p:cNvSpPr txBox="1"/>
          <p:nvPr/>
        </p:nvSpPr>
        <p:spPr>
          <a:xfrm>
            <a:off x="8000998" y="2011679"/>
            <a:ext cx="33832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300">
                <a:solidFill>
                  <a:srgbClr val="B0BEC5"/>
                </a:solidFill>
              </a:defRPr>
            </a:lvl1pPr>
          </a:lstStyle>
          <a:p>
            <a:pPr/>
            <a:r>
              <a:t>Probabilistic baseline</a:t>
            </a:r>
          </a:p>
        </p:txBody>
      </p:sp>
      <p:sp>
        <p:nvSpPr>
          <p:cNvPr id="250" name="Rectangle 30"/>
          <p:cNvSpPr/>
          <p:nvPr/>
        </p:nvSpPr>
        <p:spPr>
          <a:xfrm>
            <a:off x="8229600" y="2377439"/>
            <a:ext cx="2926079" cy="27433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TextBox 31"/>
          <p:cNvSpPr txBox="1"/>
          <p:nvPr/>
        </p:nvSpPr>
        <p:spPr>
          <a:xfrm>
            <a:off x="8183879" y="2487167"/>
            <a:ext cx="30175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7AE60"/>
                </a:solidFill>
              </a:defRPr>
            </a:lvl1pPr>
          </a:lstStyle>
          <a:p>
            <a:pPr/>
            <a:r>
              <a:t>Parameters</a:t>
            </a:r>
          </a:p>
        </p:txBody>
      </p:sp>
      <p:sp>
        <p:nvSpPr>
          <p:cNvPr id="252" name="TextBox 32"/>
          <p:cNvSpPr txBox="1"/>
          <p:nvPr/>
        </p:nvSpPr>
        <p:spPr>
          <a:xfrm>
            <a:off x="8183879" y="2761488"/>
            <a:ext cx="30175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MultinomialNB (BoW, TF-IDF)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GaussianNB (dense embeddings)</a:t>
            </a:r>
          </a:p>
        </p:txBody>
      </p:sp>
      <p:sp>
        <p:nvSpPr>
          <p:cNvPr id="253" name="TextBox 33"/>
          <p:cNvSpPr txBox="1"/>
          <p:nvPr/>
        </p:nvSpPr>
        <p:spPr>
          <a:xfrm>
            <a:off x="8183879" y="3428999"/>
            <a:ext cx="30175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27AE60"/>
                </a:solidFill>
              </a:defRPr>
            </a:lvl1pPr>
          </a:lstStyle>
          <a:p>
            <a:pPr/>
            <a:r>
              <a:t>Insight</a:t>
            </a:r>
          </a:p>
        </p:txBody>
      </p:sp>
      <p:sp>
        <p:nvSpPr>
          <p:cNvPr id="254" name="TextBox 34"/>
          <p:cNvSpPr txBox="1"/>
          <p:nvPr/>
        </p:nvSpPr>
        <p:spPr>
          <a:xfrm>
            <a:off x="8183879" y="3703320"/>
            <a:ext cx="3017521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Fast and competitive with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sparse features. Gaussian NB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struggles with dense embeddings.</a:t>
            </a:r>
          </a:p>
        </p:txBody>
      </p:sp>
      <p:sp>
        <p:nvSpPr>
          <p:cNvPr id="255" name="Rectangle 35"/>
          <p:cNvSpPr/>
          <p:nvPr/>
        </p:nvSpPr>
        <p:spPr>
          <a:xfrm>
            <a:off x="8321040" y="5029199"/>
            <a:ext cx="2743201" cy="502921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36"/>
          <p:cNvSpPr txBox="1"/>
          <p:nvPr/>
        </p:nvSpPr>
        <p:spPr>
          <a:xfrm>
            <a:off x="8366760" y="5110988"/>
            <a:ext cx="2651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→ Surprisingly competitive</a:t>
            </a:r>
          </a:p>
        </p:txBody>
      </p:sp>
      <p:sp>
        <p:nvSpPr>
          <p:cNvPr id="257" name="TextBox 37"/>
          <p:cNvSpPr txBox="1"/>
          <p:nvPr/>
        </p:nvSpPr>
        <p:spPr>
          <a:xfrm>
            <a:off x="411479" y="6309359"/>
            <a:ext cx="11338561" cy="27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200">
                <a:solidFill>
                  <a:srgbClr val="B0BEC5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✗  </a:t>
            </a:r>
            <a:r>
              <a:t>Gradient Boosting was tested and dropped — poor performance + slow training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2"/>
          <p:cNvSpPr txBox="1"/>
          <p:nvPr/>
        </p:nvSpPr>
        <p:spPr>
          <a:xfrm>
            <a:off x="411479" y="317499"/>
            <a:ext cx="108813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RESULTS — MACRO F1 HEATMAP</a:t>
            </a:r>
          </a:p>
        </p:txBody>
      </p:sp>
      <p:sp>
        <p:nvSpPr>
          <p:cNvPr id="261" name="Rectangle 3"/>
          <p:cNvSpPr/>
          <p:nvPr/>
        </p:nvSpPr>
        <p:spPr>
          <a:xfrm>
            <a:off x="365759" y="8661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5"/>
          <p:cNvSpPr txBox="1"/>
          <p:nvPr/>
        </p:nvSpPr>
        <p:spPr>
          <a:xfrm>
            <a:off x="8814288" y="1380490"/>
            <a:ext cx="365760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E94360"/>
                </a:solidFill>
              </a:defRPr>
            </a:lvl1pPr>
          </a:lstStyle>
          <a:p>
            <a:pPr/>
            <a:r>
              <a:t>Key Observations</a:t>
            </a:r>
          </a:p>
        </p:txBody>
      </p:sp>
      <p:sp>
        <p:nvSpPr>
          <p:cNvPr id="263" name="Rectangle 6"/>
          <p:cNvSpPr/>
          <p:nvPr/>
        </p:nvSpPr>
        <p:spPr>
          <a:xfrm>
            <a:off x="8867628" y="1865630"/>
            <a:ext cx="91441" cy="502920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7"/>
          <p:cNvSpPr txBox="1"/>
          <p:nvPr/>
        </p:nvSpPr>
        <p:spPr>
          <a:xfrm>
            <a:off x="9141948" y="1847342"/>
            <a:ext cx="3474720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BoW &amp; TF-IDF consistently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outperform all other features</a:t>
            </a:r>
          </a:p>
        </p:txBody>
      </p:sp>
      <p:sp>
        <p:nvSpPr>
          <p:cNvPr id="265" name="Rectangle 8"/>
          <p:cNvSpPr/>
          <p:nvPr/>
        </p:nvSpPr>
        <p:spPr>
          <a:xfrm>
            <a:off x="8867628" y="2780030"/>
            <a:ext cx="91441" cy="502920"/>
          </a:xfrm>
          <a:prstGeom prst="rect">
            <a:avLst/>
          </a:prstGeom>
          <a:solidFill>
            <a:srgbClr val="F39C1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9"/>
          <p:cNvSpPr txBox="1"/>
          <p:nvPr/>
        </p:nvSpPr>
        <p:spPr>
          <a:xfrm>
            <a:off x="9141948" y="2761742"/>
            <a:ext cx="3474720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LR is the top classifier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across all feature types</a:t>
            </a:r>
          </a:p>
        </p:txBody>
      </p:sp>
      <p:sp>
        <p:nvSpPr>
          <p:cNvPr id="267" name="Rectangle 10"/>
          <p:cNvSpPr/>
          <p:nvPr/>
        </p:nvSpPr>
        <p:spPr>
          <a:xfrm>
            <a:off x="8867628" y="3694430"/>
            <a:ext cx="91441" cy="502920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11"/>
          <p:cNvSpPr txBox="1"/>
          <p:nvPr/>
        </p:nvSpPr>
        <p:spPr>
          <a:xfrm>
            <a:off x="9141948" y="3676142"/>
            <a:ext cx="3474720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Naive Bayes competitive with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sparse features only</a:t>
            </a:r>
          </a:p>
        </p:txBody>
      </p:sp>
      <p:sp>
        <p:nvSpPr>
          <p:cNvPr id="269" name="Rectangle 12"/>
          <p:cNvSpPr/>
          <p:nvPr/>
        </p:nvSpPr>
        <p:spPr>
          <a:xfrm>
            <a:off x="8867628" y="4608830"/>
            <a:ext cx="91441" cy="502920"/>
          </a:xfrm>
          <a:prstGeom prst="rect">
            <a:avLst/>
          </a:prstGeom>
          <a:solidFill>
            <a:srgbClr val="B0BEC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13"/>
          <p:cNvSpPr txBox="1"/>
          <p:nvPr/>
        </p:nvSpPr>
        <p:spPr>
          <a:xfrm>
            <a:off x="9141948" y="4590542"/>
            <a:ext cx="3474720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BERT + Naive Bayes is the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worst combo (F1: 0.8101)</a:t>
            </a:r>
          </a:p>
        </p:txBody>
      </p:sp>
      <p:sp>
        <p:nvSpPr>
          <p:cNvPr id="271" name="Rectangle 14"/>
          <p:cNvSpPr/>
          <p:nvPr/>
        </p:nvSpPr>
        <p:spPr>
          <a:xfrm>
            <a:off x="8867628" y="5523230"/>
            <a:ext cx="91441" cy="502920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15"/>
          <p:cNvSpPr txBox="1"/>
          <p:nvPr/>
        </p:nvSpPr>
        <p:spPr>
          <a:xfrm>
            <a:off x="9141948" y="5504942"/>
            <a:ext cx="3474720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B0BEC5"/>
                </a:solidFill>
              </a:defRPr>
            </a:pPr>
            <a:r>
              <a:t>Top-4 combos all exceed</a:t>
            </a:r>
          </a:p>
          <a:p>
            <a:pPr>
              <a:defRPr sz="1100">
                <a:solidFill>
                  <a:srgbClr val="B0BEC5"/>
                </a:solidFill>
              </a:defRPr>
            </a:pPr>
            <a:r>
              <a:t>Macro F1 of 0.93</a:t>
            </a:r>
          </a:p>
        </p:txBody>
      </p:sp>
      <p:pic>
        <p:nvPicPr>
          <p:cNvPr id="273" name="Screenshot 2026-04-01 at 18.00.05.png" descr="Screenshot 2026-04-01 at 18.00.0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6450" y="1628893"/>
            <a:ext cx="8007181" cy="42758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2"/>
          <p:cNvSpPr txBox="1"/>
          <p:nvPr/>
        </p:nvSpPr>
        <p:spPr>
          <a:xfrm>
            <a:off x="411479" y="228599"/>
            <a:ext cx="108813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ALL 15 COMBINATIONS — RANKED</a:t>
            </a:r>
          </a:p>
        </p:txBody>
      </p:sp>
      <p:sp>
        <p:nvSpPr>
          <p:cNvPr id="277" name="Rectangle 3"/>
          <p:cNvSpPr/>
          <p:nvPr/>
        </p:nvSpPr>
        <p:spPr>
          <a:xfrm>
            <a:off x="365759" y="7772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7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822960"/>
            <a:ext cx="8961120" cy="5852160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TextBox 5"/>
          <p:cNvSpPr txBox="1"/>
          <p:nvPr/>
        </p:nvSpPr>
        <p:spPr>
          <a:xfrm>
            <a:off x="9555479" y="914399"/>
            <a:ext cx="2286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E94360"/>
                </a:solidFill>
              </a:defRPr>
            </a:lvl1pPr>
          </a:lstStyle>
          <a:p>
            <a:pPr/>
            <a:r>
              <a:t>#1 BEST</a:t>
            </a:r>
          </a:p>
        </p:txBody>
      </p:sp>
      <p:sp>
        <p:nvSpPr>
          <p:cNvPr id="280" name="Rectangle 6"/>
          <p:cNvSpPr/>
          <p:nvPr/>
        </p:nvSpPr>
        <p:spPr>
          <a:xfrm>
            <a:off x="9326880" y="1325880"/>
            <a:ext cx="2560321" cy="13716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7"/>
          <p:cNvSpPr txBox="1"/>
          <p:nvPr/>
        </p:nvSpPr>
        <p:spPr>
          <a:xfrm>
            <a:off x="9372600" y="1371599"/>
            <a:ext cx="2468881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TF-IDF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+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Logistic Regression</a:t>
            </a:r>
          </a:p>
        </p:txBody>
      </p:sp>
      <p:sp>
        <p:nvSpPr>
          <p:cNvPr id="282" name="TextBox 8"/>
          <p:cNvSpPr txBox="1"/>
          <p:nvPr/>
        </p:nvSpPr>
        <p:spPr>
          <a:xfrm>
            <a:off x="9372600" y="2194560"/>
            <a:ext cx="246888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E94360"/>
                </a:solidFill>
              </a:defRPr>
            </a:lvl1pPr>
          </a:lstStyle>
          <a:p>
            <a:pPr/>
            <a:r>
              <a:t>0.9349</a:t>
            </a:r>
          </a:p>
        </p:txBody>
      </p:sp>
      <p:sp>
        <p:nvSpPr>
          <p:cNvPr id="283" name="TextBox 9"/>
          <p:cNvSpPr txBox="1"/>
          <p:nvPr/>
        </p:nvSpPr>
        <p:spPr>
          <a:xfrm>
            <a:off x="9555479" y="3840479"/>
            <a:ext cx="2286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B0BEC5"/>
                </a:solidFill>
              </a:defRPr>
            </a:lvl1pPr>
          </a:lstStyle>
          <a:p>
            <a:pPr/>
            <a:r>
              <a:t>#15 WORST</a:t>
            </a:r>
          </a:p>
        </p:txBody>
      </p:sp>
      <p:sp>
        <p:nvSpPr>
          <p:cNvPr id="284" name="Rectangle 10"/>
          <p:cNvSpPr/>
          <p:nvPr/>
        </p:nvSpPr>
        <p:spPr>
          <a:xfrm>
            <a:off x="9326880" y="4251959"/>
            <a:ext cx="2560321" cy="13716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11"/>
          <p:cNvSpPr txBox="1"/>
          <p:nvPr/>
        </p:nvSpPr>
        <p:spPr>
          <a:xfrm>
            <a:off x="9372600" y="4297679"/>
            <a:ext cx="2468881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BERT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+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Naive Bayes</a:t>
            </a:r>
          </a:p>
        </p:txBody>
      </p:sp>
      <p:sp>
        <p:nvSpPr>
          <p:cNvPr id="286" name="TextBox 12"/>
          <p:cNvSpPr txBox="1"/>
          <p:nvPr/>
        </p:nvSpPr>
        <p:spPr>
          <a:xfrm>
            <a:off x="9372600" y="5120640"/>
            <a:ext cx="246888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200">
                <a:solidFill>
                  <a:srgbClr val="B0BEC5"/>
                </a:solidFill>
              </a:defRPr>
            </a:lvl1pPr>
          </a:lstStyle>
          <a:p>
            <a:pPr/>
            <a:r>
              <a:t>0.8101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TextBox 2"/>
          <p:cNvSpPr txBox="1"/>
          <p:nvPr/>
        </p:nvSpPr>
        <p:spPr>
          <a:xfrm>
            <a:off x="411479" y="228599"/>
            <a:ext cx="10881361" cy="43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BEST MODEL  ·  TF-IDF + LOGISTIC REGRESSION</a:t>
            </a:r>
          </a:p>
        </p:txBody>
      </p:sp>
      <p:sp>
        <p:nvSpPr>
          <p:cNvPr id="290" name="Rectangle 3"/>
          <p:cNvSpPr/>
          <p:nvPr/>
        </p:nvSpPr>
        <p:spPr>
          <a:xfrm>
            <a:off x="365759" y="7772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5"/>
          <p:cNvSpPr/>
          <p:nvPr/>
        </p:nvSpPr>
        <p:spPr>
          <a:xfrm>
            <a:off x="4663440" y="914399"/>
            <a:ext cx="7223761" cy="530352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6"/>
          <p:cNvSpPr txBox="1"/>
          <p:nvPr/>
        </p:nvSpPr>
        <p:spPr>
          <a:xfrm>
            <a:off x="4892040" y="960119"/>
            <a:ext cx="676656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E94360"/>
                </a:solidFill>
              </a:defRPr>
            </a:lvl1pPr>
          </a:lstStyle>
          <a:p>
            <a:pPr/>
            <a:r>
              <a:t>Macro F1:  0.9349</a:t>
            </a:r>
          </a:p>
        </p:txBody>
      </p:sp>
      <p:sp>
        <p:nvSpPr>
          <p:cNvPr id="293" name="TextBox 7"/>
          <p:cNvSpPr txBox="1"/>
          <p:nvPr/>
        </p:nvSpPr>
        <p:spPr>
          <a:xfrm>
            <a:off x="4892040" y="1417319"/>
            <a:ext cx="6766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B0BEC5"/>
                </a:solidFill>
              </a:defRPr>
            </a:lvl1pPr>
          </a:lstStyle>
          <a:p>
            <a:pPr/>
            <a:r>
              <a:t>Validation set · 6,831 samples</a:t>
            </a:r>
          </a:p>
        </p:txBody>
      </p:sp>
      <p:sp>
        <p:nvSpPr>
          <p:cNvPr id="294" name="Rectangle 8"/>
          <p:cNvSpPr/>
          <p:nvPr/>
        </p:nvSpPr>
        <p:spPr>
          <a:xfrm>
            <a:off x="4663440" y="1783079"/>
            <a:ext cx="7223761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extBox 9"/>
          <p:cNvSpPr txBox="1"/>
          <p:nvPr/>
        </p:nvSpPr>
        <p:spPr>
          <a:xfrm>
            <a:off x="4846319" y="1874518"/>
            <a:ext cx="12801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94360"/>
                </a:solidFill>
              </a:defRPr>
            </a:lvl1pPr>
          </a:lstStyle>
          <a:p>
            <a:pPr/>
            <a:r>
              <a:t>Class</a:t>
            </a:r>
          </a:p>
        </p:txBody>
      </p:sp>
      <p:sp>
        <p:nvSpPr>
          <p:cNvPr id="296" name="TextBox 10"/>
          <p:cNvSpPr txBox="1"/>
          <p:nvPr/>
        </p:nvSpPr>
        <p:spPr>
          <a:xfrm>
            <a:off x="6355079" y="1874518"/>
            <a:ext cx="1280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94360"/>
                </a:solidFill>
              </a:defRPr>
            </a:lvl1pPr>
          </a:lstStyle>
          <a:p>
            <a:pPr/>
            <a:r>
              <a:t>Precision</a:t>
            </a:r>
          </a:p>
        </p:txBody>
      </p:sp>
      <p:sp>
        <p:nvSpPr>
          <p:cNvPr id="297" name="TextBox 11"/>
          <p:cNvSpPr txBox="1"/>
          <p:nvPr/>
        </p:nvSpPr>
        <p:spPr>
          <a:xfrm>
            <a:off x="7726679" y="1874518"/>
            <a:ext cx="1280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94360"/>
                </a:solidFill>
              </a:defRPr>
            </a:lvl1pPr>
          </a:lstStyle>
          <a:p>
            <a:pPr/>
            <a:r>
              <a:t>Recall</a:t>
            </a:r>
          </a:p>
        </p:txBody>
      </p:sp>
      <p:sp>
        <p:nvSpPr>
          <p:cNvPr id="298" name="TextBox 12"/>
          <p:cNvSpPr txBox="1"/>
          <p:nvPr/>
        </p:nvSpPr>
        <p:spPr>
          <a:xfrm>
            <a:off x="9098279" y="1874518"/>
            <a:ext cx="1280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94360"/>
                </a:solidFill>
              </a:defRPr>
            </a:lvl1pPr>
          </a:lstStyle>
          <a:p>
            <a:pPr/>
            <a:r>
              <a:t>F1-Score</a:t>
            </a:r>
          </a:p>
        </p:txBody>
      </p:sp>
      <p:sp>
        <p:nvSpPr>
          <p:cNvPr id="299" name="Rectangle 13"/>
          <p:cNvSpPr/>
          <p:nvPr/>
        </p:nvSpPr>
        <p:spPr>
          <a:xfrm>
            <a:off x="4663440" y="2286000"/>
            <a:ext cx="7223761" cy="457200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14"/>
          <p:cNvSpPr txBox="1"/>
          <p:nvPr/>
        </p:nvSpPr>
        <p:spPr>
          <a:xfrm>
            <a:off x="4846319" y="2340864"/>
            <a:ext cx="128016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Fake</a:t>
            </a:r>
          </a:p>
        </p:txBody>
      </p:sp>
      <p:sp>
        <p:nvSpPr>
          <p:cNvPr id="301" name="TextBox 15"/>
          <p:cNvSpPr txBox="1"/>
          <p:nvPr/>
        </p:nvSpPr>
        <p:spPr>
          <a:xfrm>
            <a:off x="6355079" y="2340864"/>
            <a:ext cx="1280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0.94</a:t>
            </a:r>
          </a:p>
        </p:txBody>
      </p:sp>
      <p:sp>
        <p:nvSpPr>
          <p:cNvPr id="302" name="TextBox 16"/>
          <p:cNvSpPr txBox="1"/>
          <p:nvPr/>
        </p:nvSpPr>
        <p:spPr>
          <a:xfrm>
            <a:off x="7726679" y="2340864"/>
            <a:ext cx="1280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0.94</a:t>
            </a:r>
          </a:p>
        </p:txBody>
      </p:sp>
      <p:sp>
        <p:nvSpPr>
          <p:cNvPr id="303" name="TextBox 17"/>
          <p:cNvSpPr txBox="1"/>
          <p:nvPr/>
        </p:nvSpPr>
        <p:spPr>
          <a:xfrm>
            <a:off x="9098279" y="2340864"/>
            <a:ext cx="1280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39C12"/>
                </a:solidFill>
              </a:defRPr>
            </a:lvl1pPr>
          </a:lstStyle>
          <a:p>
            <a:pPr/>
            <a:r>
              <a:t>0.94</a:t>
            </a:r>
          </a:p>
        </p:txBody>
      </p:sp>
      <p:sp>
        <p:nvSpPr>
          <p:cNvPr id="304" name="Rectangle 18"/>
          <p:cNvSpPr/>
          <p:nvPr/>
        </p:nvSpPr>
        <p:spPr>
          <a:xfrm>
            <a:off x="4663440" y="2788920"/>
            <a:ext cx="7223761" cy="4572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19"/>
          <p:cNvSpPr txBox="1"/>
          <p:nvPr/>
        </p:nvSpPr>
        <p:spPr>
          <a:xfrm>
            <a:off x="4846319" y="2843783"/>
            <a:ext cx="128016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306" name="TextBox 20"/>
          <p:cNvSpPr txBox="1"/>
          <p:nvPr/>
        </p:nvSpPr>
        <p:spPr>
          <a:xfrm>
            <a:off x="6355079" y="2843783"/>
            <a:ext cx="1280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0.93</a:t>
            </a:r>
          </a:p>
        </p:txBody>
      </p:sp>
      <p:sp>
        <p:nvSpPr>
          <p:cNvPr id="307" name="TextBox 21"/>
          <p:cNvSpPr txBox="1"/>
          <p:nvPr/>
        </p:nvSpPr>
        <p:spPr>
          <a:xfrm>
            <a:off x="7726679" y="2843783"/>
            <a:ext cx="1280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0.93</a:t>
            </a:r>
          </a:p>
        </p:txBody>
      </p:sp>
      <p:sp>
        <p:nvSpPr>
          <p:cNvPr id="308" name="TextBox 22"/>
          <p:cNvSpPr txBox="1"/>
          <p:nvPr/>
        </p:nvSpPr>
        <p:spPr>
          <a:xfrm>
            <a:off x="9098279" y="2843783"/>
            <a:ext cx="1280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F39C12"/>
                </a:solidFill>
              </a:defRPr>
            </a:lvl1pPr>
          </a:lstStyle>
          <a:p>
            <a:pPr/>
            <a:r>
              <a:t>0.93</a:t>
            </a:r>
          </a:p>
        </p:txBody>
      </p:sp>
      <p:sp>
        <p:nvSpPr>
          <p:cNvPr id="309" name="TextBox 23"/>
          <p:cNvSpPr txBox="1"/>
          <p:nvPr/>
        </p:nvSpPr>
        <p:spPr>
          <a:xfrm>
            <a:off x="4892040" y="3428999"/>
            <a:ext cx="67665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E94360"/>
                </a:solidFill>
              </a:defRPr>
            </a:lvl1pPr>
          </a:lstStyle>
          <a:p>
            <a:pPr/>
            <a:r>
              <a:t>Why TF-IDF + LR Works</a:t>
            </a:r>
          </a:p>
        </p:txBody>
      </p:sp>
      <p:sp>
        <p:nvSpPr>
          <p:cNvPr id="310" name="Rectangle 24"/>
          <p:cNvSpPr/>
          <p:nvPr/>
        </p:nvSpPr>
        <p:spPr>
          <a:xfrm>
            <a:off x="4800599" y="3886199"/>
            <a:ext cx="137162" cy="274322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25"/>
          <p:cNvSpPr txBox="1"/>
          <p:nvPr/>
        </p:nvSpPr>
        <p:spPr>
          <a:xfrm>
            <a:off x="5074920" y="3886199"/>
            <a:ext cx="658367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TF-IDF down-weights ubiquitous words, surfaces discriminative terms</a:t>
            </a:r>
          </a:p>
        </p:txBody>
      </p:sp>
      <p:sp>
        <p:nvSpPr>
          <p:cNvPr id="312" name="Rectangle 26"/>
          <p:cNvSpPr/>
          <p:nvPr/>
        </p:nvSpPr>
        <p:spPr>
          <a:xfrm>
            <a:off x="4800599" y="4315967"/>
            <a:ext cx="137162" cy="27432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27"/>
          <p:cNvSpPr txBox="1"/>
          <p:nvPr/>
        </p:nvSpPr>
        <p:spPr>
          <a:xfrm>
            <a:off x="5074920" y="4315967"/>
            <a:ext cx="658367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Fake headlines overuse sensational tokens ('breaking', 'shocking', 'must see')</a:t>
            </a:r>
          </a:p>
        </p:txBody>
      </p:sp>
      <p:sp>
        <p:nvSpPr>
          <p:cNvPr id="314" name="Rectangle 28"/>
          <p:cNvSpPr/>
          <p:nvPr/>
        </p:nvSpPr>
        <p:spPr>
          <a:xfrm>
            <a:off x="4800599" y="4745735"/>
            <a:ext cx="137162" cy="27432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29"/>
          <p:cNvSpPr txBox="1"/>
          <p:nvPr/>
        </p:nvSpPr>
        <p:spPr>
          <a:xfrm>
            <a:off x="5074920" y="4745735"/>
            <a:ext cx="658367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Real headlines use specific named entities and neutral phrasing</a:t>
            </a:r>
          </a:p>
        </p:txBody>
      </p:sp>
      <p:sp>
        <p:nvSpPr>
          <p:cNvPr id="316" name="Rectangle 30"/>
          <p:cNvSpPr/>
          <p:nvPr/>
        </p:nvSpPr>
        <p:spPr>
          <a:xfrm>
            <a:off x="4800599" y="5175503"/>
            <a:ext cx="137162" cy="27432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31"/>
          <p:cNvSpPr txBox="1"/>
          <p:nvPr/>
        </p:nvSpPr>
        <p:spPr>
          <a:xfrm>
            <a:off x="5074920" y="5175503"/>
            <a:ext cx="658367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High-dimensional sparse features favor linear models (large margin)</a:t>
            </a:r>
          </a:p>
        </p:txBody>
      </p:sp>
      <p:sp>
        <p:nvSpPr>
          <p:cNvPr id="318" name="Rectangle 32"/>
          <p:cNvSpPr/>
          <p:nvPr/>
        </p:nvSpPr>
        <p:spPr>
          <a:xfrm>
            <a:off x="4800599" y="5605271"/>
            <a:ext cx="137162" cy="274321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33"/>
          <p:cNvSpPr txBox="1"/>
          <p:nvPr/>
        </p:nvSpPr>
        <p:spPr>
          <a:xfrm>
            <a:off x="5074920" y="5605271"/>
            <a:ext cx="658367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Logistic Regression: fast, interpretable, no overfitting on 27K samples</a:t>
            </a:r>
          </a:p>
        </p:txBody>
      </p:sp>
      <p:pic>
        <p:nvPicPr>
          <p:cNvPr id="320" name="Screenshot 2026-04-01 at 17.58.02.png" descr="Screenshot 2026-04-01 at 17.58.0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54" y="1679920"/>
            <a:ext cx="4365850" cy="34981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2"/>
          <p:cNvSpPr txBox="1"/>
          <p:nvPr/>
        </p:nvSpPr>
        <p:spPr>
          <a:xfrm>
            <a:off x="411479" y="228599"/>
            <a:ext cx="108813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TEST SET PREDICTIONS</a:t>
            </a:r>
          </a:p>
        </p:txBody>
      </p:sp>
      <p:sp>
        <p:nvSpPr>
          <p:cNvPr id="324" name="Rectangle 3"/>
          <p:cNvSpPr/>
          <p:nvPr/>
        </p:nvSpPr>
        <p:spPr>
          <a:xfrm>
            <a:off x="365759" y="7772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2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914400"/>
            <a:ext cx="5029201" cy="4572000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Rectangle 5"/>
          <p:cNvSpPr/>
          <p:nvPr/>
        </p:nvSpPr>
        <p:spPr>
          <a:xfrm>
            <a:off x="5760720" y="960119"/>
            <a:ext cx="3017521" cy="82296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6"/>
          <p:cNvSpPr txBox="1"/>
          <p:nvPr/>
        </p:nvSpPr>
        <p:spPr>
          <a:xfrm>
            <a:off x="5806440" y="1005839"/>
            <a:ext cx="292608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F39C12"/>
                </a:solidFill>
              </a:defRPr>
            </a:lvl1pPr>
          </a:lstStyle>
          <a:p>
            <a:pPr/>
            <a:r>
              <a:t>9,984</a:t>
            </a:r>
          </a:p>
        </p:txBody>
      </p:sp>
      <p:sp>
        <p:nvSpPr>
          <p:cNvPr id="328" name="TextBox 7"/>
          <p:cNvSpPr txBox="1"/>
          <p:nvPr/>
        </p:nvSpPr>
        <p:spPr>
          <a:xfrm>
            <a:off x="5806440" y="1463039"/>
            <a:ext cx="29260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Total test samples</a:t>
            </a:r>
          </a:p>
        </p:txBody>
      </p:sp>
      <p:sp>
        <p:nvSpPr>
          <p:cNvPr id="329" name="Rectangle 8"/>
          <p:cNvSpPr/>
          <p:nvPr/>
        </p:nvSpPr>
        <p:spPr>
          <a:xfrm>
            <a:off x="5760720" y="1965960"/>
            <a:ext cx="3017521" cy="82296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9"/>
          <p:cNvSpPr txBox="1"/>
          <p:nvPr/>
        </p:nvSpPr>
        <p:spPr>
          <a:xfrm>
            <a:off x="5806440" y="2011679"/>
            <a:ext cx="292608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E94360"/>
                </a:solidFill>
              </a:defRPr>
            </a:lvl1pPr>
          </a:lstStyle>
          <a:p>
            <a:pPr/>
            <a:r>
              <a:t>4,849</a:t>
            </a:r>
          </a:p>
        </p:txBody>
      </p:sp>
      <p:sp>
        <p:nvSpPr>
          <p:cNvPr id="331" name="TextBox 10"/>
          <p:cNvSpPr txBox="1"/>
          <p:nvPr/>
        </p:nvSpPr>
        <p:spPr>
          <a:xfrm>
            <a:off x="5806440" y="2468879"/>
            <a:ext cx="29260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Predicted Fake (0)</a:t>
            </a:r>
          </a:p>
        </p:txBody>
      </p:sp>
      <p:sp>
        <p:nvSpPr>
          <p:cNvPr id="332" name="Rectangle 11"/>
          <p:cNvSpPr/>
          <p:nvPr/>
        </p:nvSpPr>
        <p:spPr>
          <a:xfrm>
            <a:off x="5760720" y="2971799"/>
            <a:ext cx="3017521" cy="82296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12"/>
          <p:cNvSpPr txBox="1"/>
          <p:nvPr/>
        </p:nvSpPr>
        <p:spPr>
          <a:xfrm>
            <a:off x="5806440" y="3017520"/>
            <a:ext cx="292608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27AE60"/>
                </a:solidFill>
              </a:defRPr>
            </a:lvl1pPr>
          </a:lstStyle>
          <a:p>
            <a:pPr/>
            <a:r>
              <a:t>5,135</a:t>
            </a:r>
          </a:p>
        </p:txBody>
      </p:sp>
      <p:sp>
        <p:nvSpPr>
          <p:cNvPr id="334" name="TextBox 13"/>
          <p:cNvSpPr txBox="1"/>
          <p:nvPr/>
        </p:nvSpPr>
        <p:spPr>
          <a:xfrm>
            <a:off x="5806440" y="3474720"/>
            <a:ext cx="29260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Predicted Real (1)</a:t>
            </a:r>
          </a:p>
        </p:txBody>
      </p:sp>
      <p:sp>
        <p:nvSpPr>
          <p:cNvPr id="335" name="Rectangle 14"/>
          <p:cNvSpPr/>
          <p:nvPr/>
        </p:nvSpPr>
        <p:spPr>
          <a:xfrm>
            <a:off x="5760720" y="3977640"/>
            <a:ext cx="3017521" cy="82296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TextBox 15"/>
          <p:cNvSpPr txBox="1"/>
          <p:nvPr/>
        </p:nvSpPr>
        <p:spPr>
          <a:xfrm>
            <a:off x="5806440" y="4023359"/>
            <a:ext cx="292608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E94360"/>
                </a:solidFill>
              </a:defRPr>
            </a:lvl1pPr>
          </a:lstStyle>
          <a:p>
            <a:pPr/>
            <a:r>
              <a:t>48.6%</a:t>
            </a:r>
          </a:p>
        </p:txBody>
      </p:sp>
      <p:sp>
        <p:nvSpPr>
          <p:cNvPr id="337" name="TextBox 16"/>
          <p:cNvSpPr txBox="1"/>
          <p:nvPr/>
        </p:nvSpPr>
        <p:spPr>
          <a:xfrm>
            <a:off x="5806440" y="4480559"/>
            <a:ext cx="29260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Fake rate</a:t>
            </a:r>
          </a:p>
        </p:txBody>
      </p:sp>
      <p:sp>
        <p:nvSpPr>
          <p:cNvPr id="338" name="Rectangle 17"/>
          <p:cNvSpPr/>
          <p:nvPr/>
        </p:nvSpPr>
        <p:spPr>
          <a:xfrm>
            <a:off x="5760720" y="4983479"/>
            <a:ext cx="3017521" cy="82296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18"/>
          <p:cNvSpPr txBox="1"/>
          <p:nvPr/>
        </p:nvSpPr>
        <p:spPr>
          <a:xfrm>
            <a:off x="5806440" y="5029200"/>
            <a:ext cx="292608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27AE60"/>
                </a:solidFill>
              </a:defRPr>
            </a:lvl1pPr>
          </a:lstStyle>
          <a:p>
            <a:pPr/>
            <a:r>
              <a:t>51.4%</a:t>
            </a:r>
          </a:p>
        </p:txBody>
      </p:sp>
      <p:sp>
        <p:nvSpPr>
          <p:cNvPr id="340" name="TextBox 19"/>
          <p:cNvSpPr txBox="1"/>
          <p:nvPr/>
        </p:nvSpPr>
        <p:spPr>
          <a:xfrm>
            <a:off x="5806440" y="5486399"/>
            <a:ext cx="29260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Real rate</a:t>
            </a:r>
          </a:p>
        </p:txBody>
      </p:sp>
      <p:sp>
        <p:nvSpPr>
          <p:cNvPr id="341" name="Rectangle 20"/>
          <p:cNvSpPr/>
          <p:nvPr/>
        </p:nvSpPr>
        <p:spPr>
          <a:xfrm>
            <a:off x="9144000" y="960119"/>
            <a:ext cx="2743200" cy="32004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TextBox 21"/>
          <p:cNvSpPr txBox="1"/>
          <p:nvPr/>
        </p:nvSpPr>
        <p:spPr>
          <a:xfrm>
            <a:off x="9189719" y="1051560"/>
            <a:ext cx="26517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E94360"/>
                </a:solidFill>
              </a:defRPr>
            </a:lvl1pPr>
          </a:lstStyle>
          <a:p>
            <a:pPr/>
            <a:r>
              <a:t>Output File</a:t>
            </a:r>
          </a:p>
        </p:txBody>
      </p:sp>
      <p:sp>
        <p:nvSpPr>
          <p:cNvPr id="343" name="TextBox 22"/>
          <p:cNvSpPr txBox="1"/>
          <p:nvPr/>
        </p:nvSpPr>
        <p:spPr>
          <a:xfrm>
            <a:off x="9189719" y="1417319"/>
            <a:ext cx="2651762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data/processed/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testing_data_predicted.csv</a:t>
            </a:r>
          </a:p>
        </p:txBody>
      </p:sp>
      <p:sp>
        <p:nvSpPr>
          <p:cNvPr id="344" name="Rectangle 23"/>
          <p:cNvSpPr/>
          <p:nvPr/>
        </p:nvSpPr>
        <p:spPr>
          <a:xfrm>
            <a:off x="9144000" y="2103120"/>
            <a:ext cx="2743200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24"/>
          <p:cNvSpPr txBox="1"/>
          <p:nvPr/>
        </p:nvSpPr>
        <p:spPr>
          <a:xfrm>
            <a:off x="9189719" y="2194560"/>
            <a:ext cx="2651762" cy="819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B0BEC5"/>
                </a:solidFill>
              </a:defRPr>
            </a:pPr>
            <a:r>
              <a:t>Tab-separated</a:t>
            </a:r>
          </a:p>
          <a:p>
            <a:pPr algn="ctr">
              <a:defRPr sz="1200">
                <a:solidFill>
                  <a:srgbClr val="B0BEC5"/>
                </a:solidFill>
              </a:defRPr>
            </a:pPr>
            <a:r>
              <a:t>No header row</a:t>
            </a:r>
          </a:p>
          <a:p>
            <a:pPr algn="ctr">
              <a:defRPr sz="1200">
                <a:solidFill>
                  <a:srgbClr val="B0BEC5"/>
                </a:solidFill>
              </a:defRPr>
            </a:pPr>
            <a:r>
              <a:t>Original file order</a:t>
            </a:r>
          </a:p>
          <a:p>
            <a:pPr algn="ctr">
              <a:defRPr sz="1200">
                <a:solidFill>
                  <a:srgbClr val="B0BEC5"/>
                </a:solidFill>
              </a:defRPr>
            </a:pPr>
            <a:r>
              <a:t>preserved</a:t>
            </a:r>
          </a:p>
        </p:txBody>
      </p:sp>
      <p:sp>
        <p:nvSpPr>
          <p:cNvPr id="346" name="Rectangle 25"/>
          <p:cNvSpPr/>
          <p:nvPr/>
        </p:nvSpPr>
        <p:spPr>
          <a:xfrm>
            <a:off x="5760720" y="5577840"/>
            <a:ext cx="6126481" cy="9144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26"/>
          <p:cNvSpPr txBox="1"/>
          <p:nvPr/>
        </p:nvSpPr>
        <p:spPr>
          <a:xfrm>
            <a:off x="5989319" y="5623559"/>
            <a:ext cx="566928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E94360"/>
                </a:solidFill>
              </a:defRPr>
            </a:lvl1pPr>
          </a:lstStyle>
          <a:p>
            <a:pPr/>
            <a:r>
              <a:t>Accuracy Estimate</a:t>
            </a:r>
          </a:p>
        </p:txBody>
      </p:sp>
      <p:sp>
        <p:nvSpPr>
          <p:cNvPr id="348" name="TextBox 27"/>
          <p:cNvSpPr txBox="1"/>
          <p:nvPr/>
        </p:nvSpPr>
        <p:spPr>
          <a:xfrm>
            <a:off x="5989319" y="5943599"/>
            <a:ext cx="56692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B0BEC5"/>
                </a:solidFill>
              </a:defRPr>
            </a:lvl1pPr>
          </a:lstStyle>
          <a:p>
            <a:pPr/>
            <a:r>
              <a:t>Macro F1 = 0.9349 on validation.  Expect ~92-93% on test set given balanced classes.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1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2"/>
          <p:cNvSpPr txBox="1"/>
          <p:nvPr/>
        </p:nvSpPr>
        <p:spPr>
          <a:xfrm>
            <a:off x="411479" y="228599"/>
            <a:ext cx="1088136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352" name="Rectangle 3"/>
          <p:cNvSpPr/>
          <p:nvPr/>
        </p:nvSpPr>
        <p:spPr>
          <a:xfrm>
            <a:off x="365759" y="777240"/>
            <a:ext cx="8412482" cy="27433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Rectangle 4"/>
          <p:cNvSpPr/>
          <p:nvPr/>
        </p:nvSpPr>
        <p:spPr>
          <a:xfrm>
            <a:off x="274320" y="914399"/>
            <a:ext cx="256033" cy="822962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5"/>
          <p:cNvSpPr txBox="1"/>
          <p:nvPr/>
        </p:nvSpPr>
        <p:spPr>
          <a:xfrm>
            <a:off x="704088" y="932688"/>
            <a:ext cx="3108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E94360"/>
                </a:solidFill>
              </a:defRPr>
            </a:lvl1pPr>
          </a:lstStyle>
          <a:p>
            <a:pPr/>
            <a:r>
              <a:t>Simple &gt; Complex</a:t>
            </a:r>
          </a:p>
        </p:txBody>
      </p:sp>
      <p:sp>
        <p:nvSpPr>
          <p:cNvPr id="355" name="TextBox 6"/>
          <p:cNvSpPr txBox="1"/>
          <p:nvPr/>
        </p:nvSpPr>
        <p:spPr>
          <a:xfrm>
            <a:off x="704087" y="1298447"/>
            <a:ext cx="110642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B0BEC5"/>
                </a:solidFill>
              </a:defRPr>
            </a:lvl1pPr>
          </a:lstStyle>
          <a:p>
            <a:pPr/>
            <a:r>
              <a:t>TF-IDF + Logistic Regression (0.9349 F1) beats BERT (0.9018) without fine-tuning. For headline-level classification, interpretable bag-of-words methods are hard to beat.</a:t>
            </a:r>
          </a:p>
        </p:txBody>
      </p:sp>
      <p:sp>
        <p:nvSpPr>
          <p:cNvPr id="356" name="Rectangle 7"/>
          <p:cNvSpPr/>
          <p:nvPr/>
        </p:nvSpPr>
        <p:spPr>
          <a:xfrm>
            <a:off x="274320" y="2011679"/>
            <a:ext cx="256033" cy="822961"/>
          </a:xfrm>
          <a:prstGeom prst="rect">
            <a:avLst/>
          </a:prstGeom>
          <a:solidFill>
            <a:srgbClr val="F39C1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8"/>
          <p:cNvSpPr txBox="1"/>
          <p:nvPr/>
        </p:nvSpPr>
        <p:spPr>
          <a:xfrm>
            <a:off x="704088" y="2029967"/>
            <a:ext cx="3108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39C12"/>
                </a:solidFill>
              </a:defRPr>
            </a:lvl1pPr>
          </a:lstStyle>
          <a:p>
            <a:pPr/>
            <a:r>
              <a:t>Logistic Regression dominates</a:t>
            </a:r>
          </a:p>
        </p:txBody>
      </p:sp>
      <p:sp>
        <p:nvSpPr>
          <p:cNvPr id="358" name="TextBox 9"/>
          <p:cNvSpPr txBox="1"/>
          <p:nvPr/>
        </p:nvSpPr>
        <p:spPr>
          <a:xfrm>
            <a:off x="704087" y="2395727"/>
            <a:ext cx="110642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B0BEC5"/>
                </a:solidFill>
              </a:defRPr>
            </a:lvl1pPr>
          </a:lstStyle>
          <a:p>
            <a:pPr/>
            <a:r>
              <a:t>LR is #1 across BoW, TF-IDF, fastText, BERT, and Word2Vec features. High-dimensional sparse representations favor linear decision boundaries.</a:t>
            </a:r>
          </a:p>
        </p:txBody>
      </p:sp>
      <p:sp>
        <p:nvSpPr>
          <p:cNvPr id="359" name="Rectangle 10"/>
          <p:cNvSpPr/>
          <p:nvPr/>
        </p:nvSpPr>
        <p:spPr>
          <a:xfrm>
            <a:off x="274320" y="3108960"/>
            <a:ext cx="256033" cy="822961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11"/>
          <p:cNvSpPr txBox="1"/>
          <p:nvPr/>
        </p:nvSpPr>
        <p:spPr>
          <a:xfrm>
            <a:off x="704088" y="3127248"/>
            <a:ext cx="3108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7AE60"/>
                </a:solidFill>
              </a:defRPr>
            </a:lvl1pPr>
          </a:lstStyle>
          <a:p>
            <a:pPr/>
            <a:r>
              <a:t>Classical NLP is still powerful</a:t>
            </a:r>
          </a:p>
        </p:txBody>
      </p:sp>
      <p:sp>
        <p:nvSpPr>
          <p:cNvPr id="361" name="TextBox 12"/>
          <p:cNvSpPr txBox="1"/>
          <p:nvPr/>
        </p:nvSpPr>
        <p:spPr>
          <a:xfrm>
            <a:off x="704087" y="3493008"/>
            <a:ext cx="1106424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B0BEC5"/>
                </a:solidFill>
              </a:defRPr>
            </a:lvl1pPr>
          </a:lstStyle>
          <a:p>
            <a:pPr/>
            <a:r>
              <a:t>Top 6 of 15 combinations use only BoW or TF-IDF. These compute in seconds vs. hours for BERT feature extraction.</a:t>
            </a:r>
          </a:p>
        </p:txBody>
      </p:sp>
      <p:sp>
        <p:nvSpPr>
          <p:cNvPr id="362" name="Rectangle 13"/>
          <p:cNvSpPr/>
          <p:nvPr/>
        </p:nvSpPr>
        <p:spPr>
          <a:xfrm>
            <a:off x="274320" y="4206240"/>
            <a:ext cx="256033" cy="822961"/>
          </a:xfrm>
          <a:prstGeom prst="rect">
            <a:avLst/>
          </a:prstGeom>
          <a:solidFill>
            <a:srgbClr val="8E44A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TextBox 14"/>
          <p:cNvSpPr txBox="1"/>
          <p:nvPr/>
        </p:nvSpPr>
        <p:spPr>
          <a:xfrm>
            <a:off x="704088" y="4224527"/>
            <a:ext cx="3108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8E44AD"/>
                </a:solidFill>
              </a:defRPr>
            </a:lvl1pPr>
          </a:lstStyle>
          <a:p>
            <a:pPr/>
            <a:r>
              <a:t>BERT needs fine-tuning</a:t>
            </a:r>
          </a:p>
        </p:txBody>
      </p:sp>
      <p:sp>
        <p:nvSpPr>
          <p:cNvPr id="364" name="TextBox 15"/>
          <p:cNvSpPr txBox="1"/>
          <p:nvPr/>
        </p:nvSpPr>
        <p:spPr>
          <a:xfrm>
            <a:off x="704087" y="4590288"/>
            <a:ext cx="1106424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B0BEC5"/>
                </a:solidFill>
              </a:defRPr>
            </a:lvl1pPr>
          </a:lstStyle>
          <a:p>
            <a:pPr/>
            <a:r>
              <a:t>Frozen CLS embeddings are not sufficient. Fine-tuning the full BERT model on the task would likely push performance above 0.95+ F1.</a:t>
            </a:r>
          </a:p>
        </p:txBody>
      </p:sp>
      <p:sp>
        <p:nvSpPr>
          <p:cNvPr id="365" name="Rectangle 16"/>
          <p:cNvSpPr/>
          <p:nvPr/>
        </p:nvSpPr>
        <p:spPr>
          <a:xfrm>
            <a:off x="274320" y="5303520"/>
            <a:ext cx="256033" cy="822961"/>
          </a:xfrm>
          <a:prstGeom prst="rect">
            <a:avLst/>
          </a:prstGeom>
          <a:solidFill>
            <a:srgbClr val="00BCD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TextBox 17"/>
          <p:cNvSpPr txBox="1"/>
          <p:nvPr/>
        </p:nvSpPr>
        <p:spPr>
          <a:xfrm>
            <a:off x="704088" y="5321806"/>
            <a:ext cx="3108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0BCD4"/>
                </a:solidFill>
              </a:defRPr>
            </a:lvl1pPr>
          </a:lstStyle>
          <a:p>
            <a:pPr/>
            <a:r>
              <a:t>Balanced dataset advantage</a:t>
            </a:r>
          </a:p>
        </p:txBody>
      </p:sp>
      <p:sp>
        <p:nvSpPr>
          <p:cNvPr id="367" name="TextBox 18"/>
          <p:cNvSpPr txBox="1"/>
          <p:nvPr/>
        </p:nvSpPr>
        <p:spPr>
          <a:xfrm>
            <a:off x="704087" y="5687567"/>
            <a:ext cx="110642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B0BEC5"/>
                </a:solidFill>
              </a:defRPr>
            </a:lvl1pPr>
          </a:lstStyle>
          <a:p>
            <a:pPr/>
            <a:r>
              <a:t>~50/50 class split means accuracy ≈ macro F1. No class imbalance to address.</a:t>
            </a:r>
          </a:p>
        </p:txBody>
      </p:sp>
      <p:sp>
        <p:nvSpPr>
          <p:cNvPr id="368" name="Rectangle 19"/>
          <p:cNvSpPr/>
          <p:nvPr/>
        </p:nvSpPr>
        <p:spPr>
          <a:xfrm>
            <a:off x="365759" y="6400800"/>
            <a:ext cx="8412482" cy="27432"/>
          </a:xfrm>
          <a:prstGeom prst="rect">
            <a:avLst/>
          </a:prstGeom>
          <a:solidFill>
            <a:srgbClr val="E943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TextBox 20"/>
          <p:cNvSpPr txBox="1"/>
          <p:nvPr/>
        </p:nvSpPr>
        <p:spPr>
          <a:xfrm>
            <a:off x="411479" y="6492240"/>
            <a:ext cx="11338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Best model: TF-IDF + Logistic Regression  ·  Macro F1: 0.9349  ·  Test output saved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